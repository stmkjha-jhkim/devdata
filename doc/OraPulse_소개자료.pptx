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06240" y="0"/>
            <a:ext cx="1" cy="6858000"/>
          </a:xfrm>
          <a:prstGeom prst="rect">
            <a:avLst/>
          </a:prstGeom>
          <a:solidFill>
            <a:srgbClr val="4F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48840"/>
            <a:ext cx="1188720" cy="1188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3520440"/>
            <a:ext cx="292608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4000" b="1" i="0">
                <a:solidFill>
                  <a:srgbClr val="E6EBF5"/>
                </a:solidFill>
                <a:latin typeface="맑은 고딕"/>
              </a:rPr>
              <a:t>OraPulse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4F7CFF"/>
                </a:solidFill>
                <a:latin typeface="맑은 고딕"/>
              </a:rPr>
              <a:t>Oracle DB Monitor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2103120"/>
            <a:ext cx="66751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000" b="0" i="0">
                <a:solidFill>
                  <a:srgbClr val="8B96B3"/>
                </a:solidFill>
                <a:latin typeface="맑은 고딕"/>
              </a:rPr>
              <a:t>제품 소개자료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2606040"/>
            <a:ext cx="694944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E6EBF5"/>
                </a:solidFill>
                <a:latin typeface="맑은 고딕"/>
              </a:rPr>
              <a:t>설치 없이, 로그인 없이,</a:t>
            </a:r>
          </a:p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E6EBF5"/>
                </a:solidFill>
                <a:latin typeface="맑은 고딕"/>
              </a:rPr>
              <a:t>내 PC에서 바로 켜는</a:t>
            </a:r>
          </a:p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E6EBF5"/>
                </a:solidFill>
                <a:latin typeface="맑은 고딕"/>
              </a:rPr>
              <a:t>Oracle DB 실시간 모니터링 도구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0" y="434340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1B2846"/>
          </a:solidFill>
          <a:ln w="9525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>
            <a:noAutofit/>
          </a:bodyPr>
          <a:lstStyle/>
          <a:p>
            <a:pPr algn="ctr"/>
            <a:r>
              <a:rPr sz="1200" b="1">
                <a:solidFill>
                  <a:srgbClr val="4FE3A3"/>
                </a:solidFill>
                <a:latin typeface="맑은 고딕"/>
              </a:rPr>
              <a:t>v1.0008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61722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0" i="0">
                <a:solidFill>
                  <a:srgbClr val="8B96B3"/>
                </a:solidFill>
                <a:latin typeface="맑은 고딕"/>
              </a:rPr>
              <a:t>2026. 09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F7CFF"/>
                </a:solidFill>
                <a:latin typeface="맑은 고딕"/>
              </a:rP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0392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000" b="1" i="0">
                <a:solidFill>
                  <a:srgbClr val="E6EBF5"/>
                </a:solidFill>
                <a:latin typeface="맑은 고딕"/>
              </a:rPr>
              <a:t>목차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554480"/>
            <a:ext cx="548640" cy="0"/>
          </a:xfrm>
          <a:prstGeom prst="line">
            <a:avLst/>
          </a:prstGeom>
          <a:ln w="38100">
            <a:solidFill>
              <a:srgbClr val="4F7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19659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4F7CFF"/>
                </a:solidFill>
                <a:latin typeface="맑은 고딕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96596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900" b="1" i="0">
                <a:solidFill>
                  <a:srgbClr val="E6EBF5"/>
                </a:solidFill>
                <a:latin typeface="맑은 고딕"/>
              </a:rPr>
              <a:t>개요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2011680"/>
            <a:ext cx="59436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8B96B3"/>
                </a:solidFill>
                <a:latin typeface="맑은 고딕"/>
              </a:rPr>
              <a:t>OraPulse가 무엇이고, 왜 만들었는가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1520" y="2532888"/>
            <a:ext cx="10698480" cy="0"/>
          </a:xfrm>
          <a:prstGeom prst="line">
            <a:avLst/>
          </a:prstGeom>
          <a:ln w="9525">
            <a:solidFill>
              <a:srgbClr val="2631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1520" y="2624328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4F7CFF"/>
                </a:solidFill>
                <a:latin typeface="맑은 고딕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624328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900" b="1" i="0">
                <a:solidFill>
                  <a:srgbClr val="E6EBF5"/>
                </a:solidFill>
                <a:latin typeface="맑은 고딕"/>
              </a:rPr>
              <a:t>핵심 특징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2670048"/>
            <a:ext cx="59436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8B96B3"/>
                </a:solidFill>
                <a:latin typeface="맑은 고딕"/>
              </a:rPr>
              <a:t>한눈에 보는 주요 기능 요약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31520" y="3191256"/>
            <a:ext cx="10698480" cy="0"/>
          </a:xfrm>
          <a:prstGeom prst="line">
            <a:avLst/>
          </a:prstGeom>
          <a:ln w="9525">
            <a:solidFill>
              <a:srgbClr val="2631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31520" y="3282696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4F7CFF"/>
                </a:solidFill>
                <a:latin typeface="맑은 고딕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282696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900" b="1" i="0">
                <a:solidFill>
                  <a:srgbClr val="E6EBF5"/>
                </a:solidFill>
                <a:latin typeface="맑은 고딕"/>
              </a:rPr>
              <a:t>화면 미리보기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3328416"/>
            <a:ext cx="59436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8B96B3"/>
                </a:solidFill>
                <a:latin typeface="맑은 고딕"/>
              </a:rPr>
              <a:t>연결 화면 · 대시보드 · SQL 실행기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31520" y="3849624"/>
            <a:ext cx="10698480" cy="0"/>
          </a:xfrm>
          <a:prstGeom prst="line">
            <a:avLst/>
          </a:prstGeom>
          <a:ln w="9525">
            <a:solidFill>
              <a:srgbClr val="2631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31520" y="3941064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4F7CFF"/>
                </a:solidFill>
                <a:latin typeface="맑은 고딕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941064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900" b="1" i="0">
                <a:solidFill>
                  <a:srgbClr val="E6EBF5"/>
                </a:solidFill>
                <a:latin typeface="맑은 고딕"/>
              </a:rPr>
              <a:t>기능 상세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3986784"/>
            <a:ext cx="59436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8B96B3"/>
                </a:solidFill>
                <a:latin typeface="맑은 고딕"/>
              </a:rPr>
              <a:t>Main · Ops · Recovery · SQL 4개 탭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31520" y="4507992"/>
            <a:ext cx="10698480" cy="0"/>
          </a:xfrm>
          <a:prstGeom prst="line">
            <a:avLst/>
          </a:prstGeom>
          <a:ln w="9525">
            <a:solidFill>
              <a:srgbClr val="2631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31520" y="4599432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4F7CFF"/>
                </a:solidFill>
                <a:latin typeface="맑은 고딕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599432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900" b="1" i="0">
                <a:solidFill>
                  <a:srgbClr val="E6EBF5"/>
                </a:solidFill>
                <a:latin typeface="맑은 고딕"/>
              </a:rPr>
              <a:t>보안 &amp; 세션 관리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0" y="4645152"/>
            <a:ext cx="59436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8B96B3"/>
                </a:solidFill>
                <a:latin typeface="맑은 고딕"/>
              </a:rPr>
              <a:t>암호화, 자동 연결 해제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31520" y="5166360"/>
            <a:ext cx="10698480" cy="0"/>
          </a:xfrm>
          <a:prstGeom prst="line">
            <a:avLst/>
          </a:prstGeom>
          <a:ln w="9525">
            <a:solidFill>
              <a:srgbClr val="2631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31520" y="525780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4F7CFF"/>
                </a:solidFill>
                <a:latin typeface="맑은 고딕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525780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900" b="1" i="0">
                <a:solidFill>
                  <a:srgbClr val="E6EBF5"/>
                </a:solidFill>
                <a:latin typeface="맑은 고딕"/>
              </a:rPr>
              <a:t>배포 방식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5303520"/>
            <a:ext cx="59436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8B96B3"/>
                </a:solidFill>
                <a:latin typeface="맑은 고딕"/>
              </a:rPr>
              <a:t>단일 실행파일 · 설치 프로그램 · 트레이 아이콘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31520" y="5824728"/>
            <a:ext cx="10698480" cy="0"/>
          </a:xfrm>
          <a:prstGeom prst="line">
            <a:avLst/>
          </a:prstGeom>
          <a:ln w="9525">
            <a:solidFill>
              <a:srgbClr val="2631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31520" y="5916168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4F7CFF"/>
                </a:solidFill>
                <a:latin typeface="맑은 고딕"/>
              </a:rP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4480" y="5916168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900" b="1" i="0">
                <a:solidFill>
                  <a:srgbClr val="E6EBF5"/>
                </a:solidFill>
                <a:latin typeface="맑은 고딕"/>
              </a:rPr>
              <a:t>기술 스택 &amp; 향후 계획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0" y="5961888"/>
            <a:ext cx="59436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8B96B3"/>
                </a:solidFill>
                <a:latin typeface="맑은 고딕"/>
              </a:rPr>
              <a:t>아키텍처와 로드맵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8B96B3"/>
                </a:solidFill>
                <a:latin typeface="맑은 고딕"/>
              </a:rPr>
              <a:t>OraPulse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8B96B3"/>
                </a:solidFill>
                <a:latin typeface="맑은 고딕"/>
              </a:rPr>
              <a:t>02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F7CFF"/>
                </a:solidFill>
                <a:latin typeface="맑은 고딕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0392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000" b="1" i="0">
                <a:solidFill>
                  <a:srgbClr val="E6EBF5"/>
                </a:solidFill>
                <a:latin typeface="맑은 고딕"/>
              </a:rPr>
              <a:t>개요 -- OraPulse는 왜 필요한가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554480"/>
            <a:ext cx="548640" cy="0"/>
          </a:xfrm>
          <a:prstGeom prst="line">
            <a:avLst/>
          </a:prstGeom>
          <a:ln w="38100">
            <a:solidFill>
              <a:srgbClr val="4F7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40080" y="1828800"/>
            <a:ext cx="5212080" cy="4206240"/>
          </a:xfrm>
          <a:prstGeom prst="roundRect">
            <a:avLst>
              <a:gd name="adj" fmla="val 4000"/>
            </a:avLst>
          </a:prstGeom>
          <a:solidFill>
            <a:srgbClr val="16213A"/>
          </a:solidFill>
          <a:ln w="12700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E8B44F"/>
                </a:solidFill>
                <a:latin typeface="맑은 고딕"/>
              </a:rPr>
              <a:t>기존 방식의 불편함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0604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E8B44F"/>
                </a:solidFill>
                <a:latin typeface="맑은 고딕"/>
              </a:rPr>
              <a:t>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2606040"/>
            <a:ext cx="44805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500" b="1" i="0">
                <a:solidFill>
                  <a:srgbClr val="E6EBF5"/>
                </a:solidFill>
                <a:latin typeface="맑은 고딕"/>
              </a:rPr>
              <a:t>무거운 상용 모니터링 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2898648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8B96B3"/>
                </a:solidFill>
                <a:latin typeface="맑은 고딕"/>
              </a:rPr>
              <a:t>설치·라이선스·별도 서버 구축이 필요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47288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E8B44F"/>
                </a:solidFill>
                <a:latin typeface="맑은 고딕"/>
              </a:rPr>
              <a:t>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" y="3447288"/>
            <a:ext cx="44805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500" b="1" i="0">
                <a:solidFill>
                  <a:srgbClr val="E6EBF5"/>
                </a:solidFill>
                <a:latin typeface="맑은 고딕"/>
              </a:rPr>
              <a:t>SSH + 수동 SQL 조회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1872" y="3739896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8B96B3"/>
                </a:solidFill>
                <a:latin typeface="맑은 고딕"/>
              </a:rPr>
              <a:t>매번 v$ 뷰를 직접 짜서 상태 확인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88536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E8B44F"/>
                </a:solidFill>
                <a:latin typeface="맑은 고딕"/>
              </a:rPr>
              <a:t>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4288536"/>
            <a:ext cx="44805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500" b="1" i="0">
                <a:solidFill>
                  <a:srgbClr val="E6EBF5"/>
                </a:solidFill>
                <a:latin typeface="맑은 고딕"/>
              </a:rPr>
              <a:t>공용 계정/서버 공유 부담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4581144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8B96B3"/>
                </a:solidFill>
                <a:latin typeface="맑은 고딕"/>
              </a:rPr>
              <a:t>여러 사람이 접속 정보를 나눠 써야 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1828800"/>
            <a:ext cx="5257800" cy="4206240"/>
          </a:xfrm>
          <a:prstGeom prst="roundRect">
            <a:avLst>
              <a:gd name="adj" fmla="val 4000"/>
            </a:avLst>
          </a:prstGeom>
          <a:solidFill>
            <a:srgbClr val="16213A"/>
          </a:solidFill>
          <a:ln w="12700">
            <a:solidFill>
              <a:srgbClr val="4F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10312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4FE3A3"/>
                </a:solidFill>
                <a:latin typeface="맑은 고딕"/>
              </a:rPr>
              <a:t>OraPulse의 접근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60604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4FE3A3"/>
                </a:solidFill>
                <a:latin typeface="맑은 고딕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85432" y="2606040"/>
            <a:ext cx="44805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500" b="1" i="0">
                <a:solidFill>
                  <a:srgbClr val="E6EBF5"/>
                </a:solidFill>
                <a:latin typeface="맑은 고딕"/>
              </a:rPr>
              <a:t>브라우저만 있으면 실행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85432" y="2898648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8B96B3"/>
                </a:solidFill>
                <a:latin typeface="맑은 고딕"/>
              </a:rPr>
              <a:t>exe 하나로 로컬에서 웹 서버 + 대시보드 구동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447288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4FE3A3"/>
                </a:solidFill>
                <a:latin typeface="맑은 고딕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85432" y="3447288"/>
            <a:ext cx="44805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500" b="1" i="0">
                <a:solidFill>
                  <a:srgbClr val="E6EBF5"/>
                </a:solidFill>
                <a:latin typeface="맑은 고딕"/>
              </a:rPr>
              <a:t>로그인 없는 단일 사용자 구조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85432" y="3739896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8B96B3"/>
                </a:solidFill>
                <a:latin typeface="맑은 고딕"/>
              </a:rPr>
              <a:t>DB 계정/비밀번호가 곧 로그인, 서버 계정 불필요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4288536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4FE3A3"/>
                </a:solidFill>
                <a:latin typeface="맑은 고딕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85432" y="4288536"/>
            <a:ext cx="44805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500" b="1" i="0">
                <a:solidFill>
                  <a:srgbClr val="E6EBF5"/>
                </a:solidFill>
                <a:latin typeface="맑은 고딕"/>
              </a:rPr>
              <a:t>127.0.0.1 전용 바인딩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85432" y="4581144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8B96B3"/>
                </a:solidFill>
                <a:latin typeface="맑은 고딕"/>
              </a:rPr>
              <a:t>내 PC 밖에서는 아예 접근 자체가 불가능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8B96B3"/>
                </a:solidFill>
                <a:latin typeface="맑은 고딕"/>
              </a:rPr>
              <a:t>OraPulse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8B96B3"/>
                </a:solidFill>
                <a:latin typeface="맑은 고딕"/>
              </a:rPr>
              <a:t>03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F7CFF"/>
                </a:solidFill>
                <a:latin typeface="맑은 고딕"/>
              </a:rP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0392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000" b="1" i="0">
                <a:solidFill>
                  <a:srgbClr val="E6EBF5"/>
                </a:solidFill>
                <a:latin typeface="맑은 고딕"/>
              </a:rPr>
              <a:t>핵심 특징 한눈에 보기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554480"/>
            <a:ext cx="548640" cy="0"/>
          </a:xfrm>
          <a:prstGeom prst="line">
            <a:avLst/>
          </a:prstGeom>
          <a:ln w="38100">
            <a:solidFill>
              <a:srgbClr val="4F7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40080" y="1828800"/>
            <a:ext cx="3520440" cy="1965960"/>
          </a:xfrm>
          <a:prstGeom prst="roundRect">
            <a:avLst>
              <a:gd name="adj" fmla="val 6000"/>
            </a:avLst>
          </a:prstGeom>
          <a:solidFill>
            <a:srgbClr val="16213A"/>
          </a:solidFill>
          <a:ln w="12700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2057400"/>
            <a:ext cx="128016" cy="128016"/>
          </a:xfrm>
          <a:prstGeom prst="roundRect">
            <a:avLst>
              <a:gd name="adj" fmla="val 100000"/>
            </a:avLst>
          </a:prstGeom>
          <a:solidFill>
            <a:srgbClr val="4F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93392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E6EBF5"/>
                </a:solidFill>
                <a:latin typeface="맑은 고딕"/>
              </a:rPr>
              <a:t>실시간 대시보드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306324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8B96B3"/>
                </a:solidFill>
                <a:latin typeface="맑은 고딕"/>
              </a:rPr>
              <a:t>인스턴스 정보, 세션, CPU/메모리, 대기 이벤트를 15초 주기로 자동 새로고침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828800"/>
            <a:ext cx="3520440" cy="1965960"/>
          </a:xfrm>
          <a:prstGeom prst="roundRect">
            <a:avLst>
              <a:gd name="adj" fmla="val 6000"/>
            </a:avLst>
          </a:prstGeom>
          <a:solidFill>
            <a:srgbClr val="16213A"/>
          </a:solidFill>
          <a:ln w="12700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709160" y="2057400"/>
            <a:ext cx="128016" cy="128016"/>
          </a:xfrm>
          <a:prstGeom prst="roundRect">
            <a:avLst>
              <a:gd name="adj" fmla="val 100000"/>
            </a:avLst>
          </a:prstGeom>
          <a:solidFill>
            <a:srgbClr val="4F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83480" y="1993392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E6EBF5"/>
                </a:solidFill>
                <a:latin typeface="맑은 고딕"/>
              </a:rPr>
              <a:t>운영/복구 진단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450592"/>
            <a:ext cx="306324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8B96B3"/>
                </a:solidFill>
                <a:latin typeface="맑은 고딕"/>
              </a:rPr>
              <a:t>Top SQL, Instance Efficiency, Undo/Redo, 테이블스페이스, ARCHIVELOG 상태까지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828800"/>
            <a:ext cx="3520440" cy="1965960"/>
          </a:xfrm>
          <a:prstGeom prst="roundRect">
            <a:avLst>
              <a:gd name="adj" fmla="val 6000"/>
            </a:avLst>
          </a:prstGeom>
          <a:solidFill>
            <a:srgbClr val="16213A"/>
          </a:solidFill>
          <a:ln w="12700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549640" y="2057400"/>
            <a:ext cx="128016" cy="128016"/>
          </a:xfrm>
          <a:prstGeom prst="roundRect">
            <a:avLst>
              <a:gd name="adj" fmla="val 100000"/>
            </a:avLst>
          </a:prstGeom>
          <a:solidFill>
            <a:srgbClr val="4F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993392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E6EBF5"/>
                </a:solidFill>
                <a:latin typeface="맑은 고딕"/>
              </a:rPr>
              <a:t>SQL 실행기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2450592"/>
            <a:ext cx="306324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8B96B3"/>
                </a:solidFill>
                <a:latin typeface="맑은 고딕"/>
              </a:rPr>
              <a:t>SELECT 전용 안전 쿼리 실행 + 결과 200행 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069080"/>
            <a:ext cx="3520440" cy="1965960"/>
          </a:xfrm>
          <a:prstGeom prst="roundRect">
            <a:avLst>
              <a:gd name="adj" fmla="val 6000"/>
            </a:avLst>
          </a:prstGeom>
          <a:solidFill>
            <a:srgbClr val="16213A"/>
          </a:solidFill>
          <a:ln w="12700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68680" y="4297680"/>
            <a:ext cx="128016" cy="128016"/>
          </a:xfrm>
          <a:prstGeom prst="roundRect">
            <a:avLst>
              <a:gd name="adj" fmla="val 100000"/>
            </a:avLst>
          </a:prstGeom>
          <a:solidFill>
            <a:srgbClr val="4F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4233672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E6EBF5"/>
                </a:solidFill>
                <a:latin typeface="맑은 고딕"/>
              </a:rPr>
              <a:t>테이블 통계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690872"/>
            <a:ext cx="306324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8B96B3"/>
                </a:solidFill>
                <a:latin typeface="맑은 고딕"/>
              </a:rPr>
              <a:t>개별/일괄 통계 수집 + 테이블 속성(컬럼·인덱스) 조회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60" y="4069080"/>
            <a:ext cx="3520440" cy="1965960"/>
          </a:xfrm>
          <a:prstGeom prst="roundRect">
            <a:avLst>
              <a:gd name="adj" fmla="val 6000"/>
            </a:avLst>
          </a:prstGeom>
          <a:solidFill>
            <a:srgbClr val="16213A"/>
          </a:solidFill>
          <a:ln w="12700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709160" y="4297680"/>
            <a:ext cx="128016" cy="128016"/>
          </a:xfrm>
          <a:prstGeom prst="roundRect">
            <a:avLst>
              <a:gd name="adj" fmla="val 100000"/>
            </a:avLst>
          </a:prstGeom>
          <a:solidFill>
            <a:srgbClr val="4F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83480" y="4233672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E6EBF5"/>
                </a:solidFill>
                <a:latin typeface="맑은 고딕"/>
              </a:rPr>
              <a:t>즐겨찾기 (암호화)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4690872"/>
            <a:ext cx="306324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8B96B3"/>
                </a:solidFill>
                <a:latin typeface="맑은 고딕"/>
              </a:rPr>
              <a:t>자주 쓰는 접속 정보를 AES-256-GCM으로 암호화해 로컬 저장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21040" y="4069080"/>
            <a:ext cx="3520440" cy="1965960"/>
          </a:xfrm>
          <a:prstGeom prst="roundRect">
            <a:avLst>
              <a:gd name="adj" fmla="val 6000"/>
            </a:avLst>
          </a:prstGeom>
          <a:solidFill>
            <a:srgbClr val="16213A"/>
          </a:solidFill>
          <a:ln w="12700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549640" y="4297680"/>
            <a:ext cx="128016" cy="128016"/>
          </a:xfrm>
          <a:prstGeom prst="roundRect">
            <a:avLst>
              <a:gd name="adj" fmla="val 100000"/>
            </a:avLst>
          </a:prstGeom>
          <a:solidFill>
            <a:srgbClr val="4F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23960" y="4233672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E6EBF5"/>
                </a:solidFill>
                <a:latin typeface="맑은 고딕"/>
              </a:rPr>
              <a:t>자동 세션 정리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9640" y="4690872"/>
            <a:ext cx="306324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8B96B3"/>
                </a:solidFill>
                <a:latin typeface="맑은 고딕"/>
              </a:rPr>
              <a:t>브라우저를 닫으면 유예 시간 후 DB 연결을 자동 종료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8B96B3"/>
                </a:solidFill>
                <a:latin typeface="맑은 고딕"/>
              </a:rPr>
              <a:t>OraPulse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8B96B3"/>
                </a:solidFill>
                <a:latin typeface="맑은 고딕"/>
              </a:rPr>
              <a:t>04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F7CFF"/>
                </a:solidFill>
                <a:latin typeface="맑은 고딕"/>
              </a:rPr>
              <a:t>SCREEN 1 /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0392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000" b="1" i="0">
                <a:solidFill>
                  <a:srgbClr val="E6EBF5"/>
                </a:solidFill>
                <a:latin typeface="맑은 고딕"/>
              </a:rPr>
              <a:t>화면 미리보기 -- 연결 화면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554480"/>
            <a:ext cx="548640" cy="0"/>
          </a:xfrm>
          <a:prstGeom prst="line">
            <a:avLst/>
          </a:prstGeom>
          <a:ln w="38100">
            <a:solidFill>
              <a:srgbClr val="4F7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85216" y="1819655"/>
            <a:ext cx="7424928" cy="4681728"/>
          </a:xfrm>
          <a:prstGeom prst="roundRect">
            <a:avLst>
              <a:gd name="adj" fmla="val 3000"/>
            </a:avLst>
          </a:prstGeom>
          <a:solidFill>
            <a:srgbClr val="0A0F1C"/>
          </a:solidFill>
          <a:ln w="19050">
            <a:solidFill>
              <a:srgbClr val="4F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pt-01-conn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74519"/>
            <a:ext cx="7315200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321040" y="210312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4F7CFF"/>
                </a:solidFill>
                <a:latin typeface="맑은 고딕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7072" y="21031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50" b="1" i="0">
                <a:solidFill>
                  <a:srgbClr val="E6EBF5"/>
                </a:solidFill>
                <a:latin typeface="맑은 고딕"/>
              </a:rPr>
              <a:t>즐겨찾기 드롭다운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7072" y="2414016"/>
            <a:ext cx="301752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8B96B3"/>
                </a:solidFill>
                <a:latin typeface="맑은 고딕"/>
              </a:rPr>
              <a:t>저장해둔 접속 정보를 선택만 하면 바로 연결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310896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4F7CFF"/>
                </a:solidFill>
                <a:latin typeface="맑은 고딕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7072" y="310896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50" b="1" i="0">
                <a:solidFill>
                  <a:srgbClr val="E6EBF5"/>
                </a:solidFill>
                <a:latin typeface="맑은 고딕"/>
              </a:rPr>
              <a:t>암호화 저장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77072" y="3419856"/>
            <a:ext cx="301752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8B96B3"/>
                </a:solidFill>
                <a:latin typeface="맑은 고딕"/>
              </a:rPr>
              <a:t>즐겨찾기(비밀번호 포함)는 이 기기에 AES-256-GCM으로 암호화 저장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411480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4F7CFF"/>
                </a:solidFill>
                <a:latin typeface="맑은 고딕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7072" y="411480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50" b="1" i="0">
                <a:solidFill>
                  <a:srgbClr val="E6EBF5"/>
                </a:solidFill>
                <a:latin typeface="맑은 고딕"/>
              </a:rPr>
              <a:t>계정 제한 없음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7072" y="4425696"/>
            <a:ext cx="301752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8B96B3"/>
                </a:solidFill>
                <a:latin typeface="맑은 고딕"/>
              </a:rPr>
              <a:t>SYSTEM뿐 아니라 임의의 Oracle 계정으로 연결 가능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8B96B3"/>
                </a:solidFill>
                <a:latin typeface="맑은 고딕"/>
              </a:rPr>
              <a:t>OraPulse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8B96B3"/>
                </a:solidFill>
                <a:latin typeface="맑은 고딕"/>
              </a:rPr>
              <a:t>05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F7CFF"/>
                </a:solidFill>
                <a:latin typeface="맑은 고딕"/>
              </a:rPr>
              <a:t>SCREEN 2 /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0392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000" b="1" i="0">
                <a:solidFill>
                  <a:srgbClr val="E6EBF5"/>
                </a:solidFill>
                <a:latin typeface="맑은 고딕"/>
              </a:rPr>
              <a:t>화면 미리보기 -- 메인 대시보드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554480"/>
            <a:ext cx="548640" cy="0"/>
          </a:xfrm>
          <a:prstGeom prst="line">
            <a:avLst/>
          </a:prstGeom>
          <a:ln w="38100">
            <a:solidFill>
              <a:srgbClr val="4F7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85216" y="1819655"/>
            <a:ext cx="7424928" cy="4681728"/>
          </a:xfrm>
          <a:prstGeom prst="roundRect">
            <a:avLst>
              <a:gd name="adj" fmla="val 3000"/>
            </a:avLst>
          </a:prstGeom>
          <a:solidFill>
            <a:srgbClr val="0A0F1C"/>
          </a:solidFill>
          <a:ln w="19050">
            <a:solidFill>
              <a:srgbClr val="4F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pt-02-dashboard-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74519"/>
            <a:ext cx="7315200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321040" y="210312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4F7CFF"/>
                </a:solidFill>
                <a:latin typeface="맑은 고딕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7072" y="21031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50" b="1" i="0">
                <a:solidFill>
                  <a:srgbClr val="E6EBF5"/>
                </a:solidFill>
                <a:latin typeface="맑은 고딕"/>
              </a:rPr>
              <a:t>인스턴스 정보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7072" y="2414016"/>
            <a:ext cx="301752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8B96B3"/>
                </a:solidFill>
                <a:latin typeface="맑은 고딕"/>
              </a:rPr>
              <a:t>이름, 상태, 호스트, 버전, 기동 시각을 한눈에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310896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4F7CFF"/>
                </a:solidFill>
                <a:latin typeface="맑은 고딕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7072" y="310896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50" b="1" i="0">
                <a:solidFill>
                  <a:srgbClr val="E6EBF5"/>
                </a:solidFill>
                <a:latin typeface="맑은 고딕"/>
              </a:rPr>
              <a:t>CPU/메모리 사용률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77072" y="3419856"/>
            <a:ext cx="301752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8B96B3"/>
                </a:solidFill>
                <a:latin typeface="맑은 고딕"/>
              </a:rPr>
              <a:t>v$sysmetric, SGA+PGA 기준 실시간 게이지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411480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4F7CFF"/>
                </a:solidFill>
                <a:latin typeface="맑은 고딕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7072" y="411480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50" b="1" i="0">
                <a:solidFill>
                  <a:srgbClr val="E6EBF5"/>
                </a:solidFill>
                <a:latin typeface="맑은 고딕"/>
              </a:rPr>
              <a:t>세션/차단/장기작업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7072" y="4425696"/>
            <a:ext cx="301752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8B96B3"/>
                </a:solidFill>
                <a:latin typeface="맑은 고딕"/>
              </a:rPr>
              <a:t>현재 세션, 블로킹, Long Running Operation 감시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512064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4F7CFF"/>
                </a:solidFill>
                <a:latin typeface="맑은 고딕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77072" y="512064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50" b="1" i="0">
                <a:solidFill>
                  <a:srgbClr val="E6EBF5"/>
                </a:solidFill>
                <a:latin typeface="맑은 고딕"/>
              </a:rPr>
              <a:t>15초 자동 새로고침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77072" y="5431536"/>
            <a:ext cx="301752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8B96B3"/>
                </a:solidFill>
                <a:latin typeface="맑은 고딕"/>
              </a:rPr>
              <a:t>탭을 바꿔가며 지켜볼 필요 없이 항상 최신 상태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8B96B3"/>
                </a:solidFill>
                <a:latin typeface="맑은 고딕"/>
              </a:rPr>
              <a:t>OraPulse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8B96B3"/>
                </a:solidFill>
                <a:latin typeface="맑은 고딕"/>
              </a:rPr>
              <a:t>06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F7CFF"/>
                </a:solidFill>
                <a:latin typeface="맑은 고딕"/>
              </a:rPr>
              <a:t>SCREEN 3 /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0392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000" b="1" i="0">
                <a:solidFill>
                  <a:srgbClr val="E6EBF5"/>
                </a:solidFill>
                <a:latin typeface="맑은 고딕"/>
              </a:rPr>
              <a:t>화면 미리보기 -- SQL 실행기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554480"/>
            <a:ext cx="548640" cy="0"/>
          </a:xfrm>
          <a:prstGeom prst="line">
            <a:avLst/>
          </a:prstGeom>
          <a:ln w="38100">
            <a:solidFill>
              <a:srgbClr val="4F7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85216" y="1819655"/>
            <a:ext cx="7424928" cy="4681728"/>
          </a:xfrm>
          <a:prstGeom prst="roundRect">
            <a:avLst>
              <a:gd name="adj" fmla="val 3000"/>
            </a:avLst>
          </a:prstGeom>
          <a:solidFill>
            <a:srgbClr val="0A0F1C"/>
          </a:solidFill>
          <a:ln w="19050">
            <a:solidFill>
              <a:srgbClr val="4F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pt-04-dashboard-sq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74519"/>
            <a:ext cx="7315200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321040" y="210312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4F7CFF"/>
                </a:solidFill>
                <a:latin typeface="맑은 고딕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7072" y="21031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50" b="1" i="0">
                <a:solidFill>
                  <a:srgbClr val="E6EBF5"/>
                </a:solidFill>
                <a:latin typeface="맑은 고딕"/>
              </a:rPr>
              <a:t>SELECT 전용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7072" y="2414016"/>
            <a:ext cx="301752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8B96B3"/>
                </a:solidFill>
                <a:latin typeface="맑은 고딕"/>
              </a:rPr>
              <a:t>DML/DDL은 아예 실행 불가 -- 운영 사고 원천 차단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310896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4F7CFF"/>
                </a:solidFill>
                <a:latin typeface="맑은 고딕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7072" y="310896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50" b="1" i="0">
                <a:solidFill>
                  <a:srgbClr val="E6EBF5"/>
                </a:solidFill>
                <a:latin typeface="맑은 고딕"/>
              </a:rPr>
              <a:t>결과 최대 200행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77072" y="3419856"/>
            <a:ext cx="301752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8B96B3"/>
                </a:solidFill>
                <a:latin typeface="맑은 고딕"/>
              </a:rPr>
              <a:t>큰 결과는 FETCH FIRST/WHERE로 직접 좁히도록 안내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411480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4F7CFF"/>
                </a:solidFill>
                <a:latin typeface="맑은 고딕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7072" y="411480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50" b="1" i="0">
                <a:solidFill>
                  <a:srgbClr val="E6EBF5"/>
                </a:solidFill>
                <a:latin typeface="맑은 고딕"/>
              </a:rPr>
              <a:t>자유로운 조회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7072" y="4425696"/>
            <a:ext cx="301752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8B96B3"/>
                </a:solidFill>
                <a:latin typeface="맑은 고딕"/>
              </a:rPr>
              <a:t>임의 테이블/뷰를 즉석에서 조회, CLOB도 문자열로 표시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8B96B3"/>
                </a:solidFill>
                <a:latin typeface="맑은 고딕"/>
              </a:rPr>
              <a:t>OraPulse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8B96B3"/>
                </a:solidFill>
                <a:latin typeface="맑은 고딕"/>
              </a:rPr>
              <a:t>07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F7CFF"/>
                </a:solidFill>
                <a:latin typeface="맑은 고딕"/>
              </a:rPr>
              <a:t>FEATURES IN DETAIL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0392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000" b="1" i="0">
                <a:solidFill>
                  <a:srgbClr val="E6EBF5"/>
                </a:solidFill>
                <a:latin typeface="맑은 고딕"/>
              </a:rPr>
              <a:t>주요 기능 -- 4개의 탭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554480"/>
            <a:ext cx="548640" cy="0"/>
          </a:xfrm>
          <a:prstGeom prst="line">
            <a:avLst/>
          </a:prstGeom>
          <a:ln w="38100">
            <a:solidFill>
              <a:srgbClr val="4F7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40080" y="1874519"/>
            <a:ext cx="2697480" cy="4160520"/>
          </a:xfrm>
          <a:prstGeom prst="roundRect">
            <a:avLst>
              <a:gd name="adj" fmla="val 5000"/>
            </a:avLst>
          </a:prstGeom>
          <a:solidFill>
            <a:srgbClr val="16213A"/>
          </a:solidFill>
          <a:ln w="15875">
            <a:solidFill>
              <a:srgbClr val="4F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2697480" cy="777240"/>
          </a:xfrm>
          <a:prstGeom prst="roundRect">
            <a:avLst>
              <a:gd name="adj" fmla="val 5000"/>
            </a:avLst>
          </a:prstGeom>
          <a:solidFill>
            <a:srgbClr val="4F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84247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2000" b="1" i="0">
                <a:solidFill>
                  <a:srgbClr val="0B1220"/>
                </a:solidFill>
                <a:latin typeface="맑은 고딕"/>
              </a:rPr>
              <a:t>Main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13431"/>
            <a:ext cx="26974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150" b="1" i="0">
                <a:solidFill>
                  <a:srgbClr val="0B1220"/>
                </a:solidFill>
                <a:latin typeface="맑은 고딕"/>
              </a:rPr>
              <a:t>실시간 상태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880359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1" i="0">
                <a:solidFill>
                  <a:srgbClr val="4F7CFF"/>
                </a:solidFill>
                <a:latin typeface="맑은 고딕"/>
              </a:rPr>
              <a:t>-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880359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E6EBF5"/>
                </a:solidFill>
                <a:latin typeface="맑은 고딕"/>
              </a:rPr>
              <a:t>인스턴스/세션/CPU/메모리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593591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1" i="0">
                <a:solidFill>
                  <a:srgbClr val="4F7CFF"/>
                </a:solidFill>
                <a:latin typeface="맑은 고딕"/>
              </a:rPr>
              <a:t>-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3593591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E6EBF5"/>
                </a:solidFill>
                <a:latin typeface="맑은 고딕"/>
              </a:rPr>
              <a:t>차단 세션 · 장기 실행 작업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4306823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1" i="0">
                <a:solidFill>
                  <a:srgbClr val="4F7CFF"/>
                </a:solidFill>
                <a:latin typeface="맑은 고딕"/>
              </a:rPr>
              <a:t>-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4306823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E6EBF5"/>
                </a:solidFill>
                <a:latin typeface="맑은 고딕"/>
              </a:rPr>
              <a:t>Top 5 대기 이벤트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5020055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1" i="0">
                <a:solidFill>
                  <a:srgbClr val="4F7CFF"/>
                </a:solidFill>
                <a:latin typeface="맑은 고딕"/>
              </a:rPr>
              <a:t>-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5020055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E6EBF5"/>
                </a:solidFill>
                <a:latin typeface="맑은 고딕"/>
              </a:rPr>
              <a:t>테이블 통계 수집 현황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20440" y="1874519"/>
            <a:ext cx="2697480" cy="4160520"/>
          </a:xfrm>
          <a:prstGeom prst="roundRect">
            <a:avLst>
              <a:gd name="adj" fmla="val 5000"/>
            </a:avLst>
          </a:prstGeom>
          <a:solidFill>
            <a:srgbClr val="16213A"/>
          </a:solidFill>
          <a:ln w="15875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520440" y="1874519"/>
            <a:ext cx="2697480" cy="777240"/>
          </a:xfrm>
          <a:prstGeom prst="roundRect">
            <a:avLst>
              <a:gd name="adj" fmla="val 5000"/>
            </a:avLst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20440" y="1984247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2000" b="1" i="0">
                <a:solidFill>
                  <a:srgbClr val="0B1220"/>
                </a:solidFill>
                <a:latin typeface="맑은 고딕"/>
              </a:rPr>
              <a:t>Ops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2313431"/>
            <a:ext cx="26974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150" b="1" i="0">
                <a:solidFill>
                  <a:srgbClr val="0B1220"/>
                </a:solidFill>
                <a:latin typeface="맑은 고딕"/>
              </a:rPr>
              <a:t>운영 진단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21608" y="2880359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1" i="0">
                <a:solidFill>
                  <a:srgbClr val="7C5CFF"/>
                </a:solidFill>
                <a:latin typeface="맑은 고딕"/>
              </a:rPr>
              <a:t>-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04488" y="2880359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E6EBF5"/>
                </a:solidFill>
                <a:latin typeface="맑은 고딕"/>
              </a:rPr>
              <a:t>Top SQL (실행시간/CPU/버퍼)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21608" y="3593591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1" i="0">
                <a:solidFill>
                  <a:srgbClr val="7C5CFF"/>
                </a:solidFill>
                <a:latin typeface="맑은 고딕"/>
              </a:rPr>
              <a:t>-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04488" y="3593591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E6EBF5"/>
                </a:solidFill>
                <a:latin typeface="맑은 고딕"/>
              </a:rPr>
              <a:t>Instance Efficiency 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21608" y="4306823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1" i="0">
                <a:solidFill>
                  <a:srgbClr val="7C5CFF"/>
                </a:solidFill>
                <a:latin typeface="맑은 고딕"/>
              </a:rPr>
              <a:t>-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04488" y="4306823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E6EBF5"/>
                </a:solidFill>
                <a:latin typeface="맑은 고딕"/>
              </a:rPr>
              <a:t>Load Profile, Undo/Redo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21608" y="5020055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1" i="0">
                <a:solidFill>
                  <a:srgbClr val="7C5CFF"/>
                </a:solidFill>
                <a:latin typeface="맑은 고딕"/>
              </a:rPr>
              <a:t>-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04488" y="5020055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E6EBF5"/>
                </a:solidFill>
                <a:latin typeface="맑은 고딕"/>
              </a:rPr>
              <a:t>테이블스페이스 I/O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1874519"/>
            <a:ext cx="2697480" cy="4160520"/>
          </a:xfrm>
          <a:prstGeom prst="roundRect">
            <a:avLst>
              <a:gd name="adj" fmla="val 5000"/>
            </a:avLst>
          </a:prstGeom>
          <a:solidFill>
            <a:srgbClr val="16213A"/>
          </a:solidFill>
          <a:ln w="15875">
            <a:solidFill>
              <a:srgbClr val="4FE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400800" y="1874519"/>
            <a:ext cx="2697480" cy="777240"/>
          </a:xfrm>
          <a:prstGeom prst="roundRect">
            <a:avLst>
              <a:gd name="adj" fmla="val 5000"/>
            </a:avLst>
          </a:prstGeom>
          <a:solidFill>
            <a:srgbClr val="4FE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1984247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2000" b="1" i="0">
                <a:solidFill>
                  <a:srgbClr val="0B1220"/>
                </a:solidFill>
                <a:latin typeface="맑은 고딕"/>
              </a:rPr>
              <a:t>Recovery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2313431"/>
            <a:ext cx="26974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150" b="1" i="0">
                <a:solidFill>
                  <a:srgbClr val="0B1220"/>
                </a:solidFill>
                <a:latin typeface="맑은 고딕"/>
              </a:rPr>
              <a:t>복구 상태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01968" y="2880359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1" i="0">
                <a:solidFill>
                  <a:srgbClr val="4FE3A3"/>
                </a:solidFill>
                <a:latin typeface="맑은 고딕"/>
              </a:rPr>
              <a:t>-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84848" y="2880359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E6EBF5"/>
                </a:solidFill>
                <a:latin typeface="맑은 고딕"/>
              </a:rPr>
              <a:t>ARCHIVELOG 모드/공간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01968" y="3593591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1" i="0">
                <a:solidFill>
                  <a:srgbClr val="4FE3A3"/>
                </a:solidFill>
                <a:latin typeface="맑은 고딕"/>
              </a:rPr>
              <a:t>-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84848" y="3593591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E6EBF5"/>
                </a:solidFill>
                <a:latin typeface="맑은 고딕"/>
              </a:rPr>
              <a:t>최근 백업 이력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01968" y="4306823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1" i="0">
                <a:solidFill>
                  <a:srgbClr val="4FE3A3"/>
                </a:solidFill>
                <a:latin typeface="맑은 고딕"/>
              </a:rPr>
              <a:t>-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84848" y="4306823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E6EBF5"/>
                </a:solidFill>
                <a:latin typeface="맑은 고딕"/>
              </a:rPr>
              <a:t>Alert Log 이상 징후 분석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01968" y="5020055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1" i="0">
                <a:solidFill>
                  <a:srgbClr val="4FE3A3"/>
                </a:solidFill>
                <a:latin typeface="맑은 고딕"/>
              </a:rPr>
              <a:t>-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84848" y="5020055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E6EBF5"/>
                </a:solidFill>
                <a:latin typeface="맑은 고딕"/>
              </a:rPr>
              <a:t>최근 DML 추적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281160" y="1874519"/>
            <a:ext cx="2697480" cy="4160520"/>
          </a:xfrm>
          <a:prstGeom prst="roundRect">
            <a:avLst>
              <a:gd name="adj" fmla="val 5000"/>
            </a:avLst>
          </a:prstGeom>
          <a:solidFill>
            <a:srgbClr val="16213A"/>
          </a:solidFill>
          <a:ln w="15875">
            <a:solidFill>
              <a:srgbClr val="E8B4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9281160" y="1874519"/>
            <a:ext cx="2697480" cy="777240"/>
          </a:xfrm>
          <a:prstGeom prst="roundRect">
            <a:avLst>
              <a:gd name="adj" fmla="val 5000"/>
            </a:avLst>
          </a:prstGeom>
          <a:solidFill>
            <a:srgbClr val="E8B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81160" y="1984247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2000" b="1" i="0">
                <a:solidFill>
                  <a:srgbClr val="0B1220"/>
                </a:solidFill>
                <a:latin typeface="맑은 고딕"/>
              </a:rPr>
              <a:t>SQL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81160" y="2313431"/>
            <a:ext cx="26974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150" b="1" i="0">
                <a:solidFill>
                  <a:srgbClr val="0B1220"/>
                </a:solidFill>
                <a:latin typeface="맑은 고딕"/>
              </a:rPr>
              <a:t>쿼리 실행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2328" y="2880359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1" i="0">
                <a:solidFill>
                  <a:srgbClr val="E8B44F"/>
                </a:solidFill>
                <a:latin typeface="맑은 고딕"/>
              </a:rPr>
              <a:t>-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65208" y="2880359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E6EBF5"/>
                </a:solidFill>
                <a:latin typeface="맑은 고딕"/>
              </a:rPr>
              <a:t>SELECT 전용 안전 실행기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82328" y="3593591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1" i="0">
                <a:solidFill>
                  <a:srgbClr val="E8B44F"/>
                </a:solidFill>
                <a:latin typeface="맑은 고딕"/>
              </a:rPr>
              <a:t>-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65208" y="3593591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E6EBF5"/>
                </a:solidFill>
                <a:latin typeface="맑은 고딕"/>
              </a:rPr>
              <a:t>결과 200행 캡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82328" y="4306823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1" i="0">
                <a:solidFill>
                  <a:srgbClr val="E8B44F"/>
                </a:solidFill>
                <a:latin typeface="맑은 고딕"/>
              </a:rPr>
              <a:t>-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65208" y="4306823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E6EBF5"/>
                </a:solidFill>
                <a:latin typeface="맑은 고딕"/>
              </a:rPr>
              <a:t>세션별 실행 SQL 상세 조회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482328" y="5020055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1" i="0">
                <a:solidFill>
                  <a:srgbClr val="E8B44F"/>
                </a:solidFill>
                <a:latin typeface="맑은 고딕"/>
              </a:rPr>
              <a:t>-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65208" y="5020055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E6EBF5"/>
                </a:solidFill>
                <a:latin typeface="맑은 고딕"/>
              </a:rPr>
              <a:t>Kill Session (IMMEDIATE)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8B96B3"/>
                </a:solidFill>
                <a:latin typeface="맑은 고딕"/>
              </a:rPr>
              <a:t>OraPulse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15600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8B96B3"/>
                </a:solidFill>
                <a:latin typeface="맑은 고딕"/>
              </a:rPr>
              <a:t>08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F7CFF"/>
                </a:solidFill>
                <a:latin typeface="맑은 고딕"/>
              </a:rPr>
              <a:t>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0392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000" b="1" i="0">
                <a:solidFill>
                  <a:srgbClr val="E6EBF5"/>
                </a:solidFill>
                <a:latin typeface="맑은 고딕"/>
              </a:rPr>
              <a:t>보안 &amp; 세션 관리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554480"/>
            <a:ext cx="548640" cy="0"/>
          </a:xfrm>
          <a:prstGeom prst="line">
            <a:avLst/>
          </a:prstGeom>
          <a:ln w="38100">
            <a:solidFill>
              <a:srgbClr val="4F7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40080" y="1920240"/>
            <a:ext cx="2697480" cy="3566160"/>
          </a:xfrm>
          <a:prstGeom prst="roundRect">
            <a:avLst>
              <a:gd name="adj" fmla="val 6000"/>
            </a:avLst>
          </a:prstGeom>
          <a:solidFill>
            <a:srgbClr val="16213A"/>
          </a:solidFill>
          <a:ln w="12700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2194560"/>
            <a:ext cx="457200" cy="45720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4FE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945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800" b="0" i="0">
                <a:solidFill>
                  <a:srgbClr val="4FE3A3"/>
                </a:solidFill>
                <a:latin typeface="맑은 고딕"/>
              </a:rPr>
              <a:t>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34640"/>
            <a:ext cx="224028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50" b="1" i="0">
                <a:solidFill>
                  <a:srgbClr val="E6EBF5"/>
                </a:solidFill>
                <a:latin typeface="맑은 고딕"/>
              </a:rPr>
              <a:t>AES-256-GCM 암호화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520440"/>
            <a:ext cx="2240280" cy="182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B96B3"/>
                </a:solidFill>
                <a:latin typeface="맑은 고딕"/>
              </a:rPr>
              <a:t>즐겨찾기 접속 정보와 주간 리포트용 스냅샷 이력의 DB 주소/계정 정보를 대칭키로 암호화해 로컬에 저장. 키 파일도 이 기기에만 존재.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40" y="1920240"/>
            <a:ext cx="2697480" cy="3566160"/>
          </a:xfrm>
          <a:prstGeom prst="roundRect">
            <a:avLst>
              <a:gd name="adj" fmla="val 6000"/>
            </a:avLst>
          </a:prstGeom>
          <a:solidFill>
            <a:srgbClr val="16213A"/>
          </a:solidFill>
          <a:ln w="12700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749040" y="2194560"/>
            <a:ext cx="457200" cy="45720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4F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40" y="21945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800" b="0" i="0">
                <a:solidFill>
                  <a:srgbClr val="4F7CFF"/>
                </a:solidFill>
                <a:latin typeface="맑은 고딕"/>
              </a:rPr>
              <a:t>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2834640"/>
            <a:ext cx="224028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50" b="1" i="0">
                <a:solidFill>
                  <a:srgbClr val="E6EBF5"/>
                </a:solidFill>
                <a:latin typeface="맑은 고딕"/>
              </a:rPr>
              <a:t>127.0.0.1 전용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40" y="3520440"/>
            <a:ext cx="2240280" cy="182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B96B3"/>
                </a:solidFill>
                <a:latin typeface="맑은 고딕"/>
              </a:rPr>
              <a:t>서버가 로컬 루프백 주소에만 바인딩되어 같은 PC의 브라우저 외에는 네트워크상 접근 경로 자체가 없음.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920240"/>
            <a:ext cx="2697480" cy="3566160"/>
          </a:xfrm>
          <a:prstGeom prst="roundRect">
            <a:avLst>
              <a:gd name="adj" fmla="val 6000"/>
            </a:avLst>
          </a:prstGeom>
          <a:solidFill>
            <a:srgbClr val="16213A"/>
          </a:solidFill>
          <a:ln w="12700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629400" y="2194560"/>
            <a:ext cx="457200" cy="45720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21945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800" b="0" i="0">
                <a:solidFill>
                  <a:srgbClr val="7C5CFF"/>
                </a:solidFill>
                <a:latin typeface="맑은 고딕"/>
              </a:rPr>
              <a:t>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2834640"/>
            <a:ext cx="224028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50" b="1" i="0">
                <a:solidFill>
                  <a:srgbClr val="E6EBF5"/>
                </a:solidFill>
                <a:latin typeface="맑은 고딕"/>
              </a:rPr>
              <a:t>서버사이드 세션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3520440"/>
            <a:ext cx="2240280" cy="182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B96B3"/>
                </a:solidFill>
                <a:latin typeface="맑은 고딕"/>
              </a:rPr>
              <a:t>로그인 정보는 서버 메모리에만 보관되고 브라우저 쿠키에는 세션 ID만 저장돼 DB 비밀번호가 쿠키에 노출되지 않음.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81160" y="1920240"/>
            <a:ext cx="2697480" cy="3566160"/>
          </a:xfrm>
          <a:prstGeom prst="roundRect">
            <a:avLst>
              <a:gd name="adj" fmla="val 6000"/>
            </a:avLst>
          </a:prstGeom>
          <a:solidFill>
            <a:srgbClr val="16213A"/>
          </a:solidFill>
          <a:ln w="12700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509760" y="2194560"/>
            <a:ext cx="457200" cy="45720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E8B4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0" y="21945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800" b="0" i="0">
                <a:solidFill>
                  <a:srgbClr val="E8B44F"/>
                </a:solidFill>
                <a:latin typeface="맑은 고딕"/>
              </a:rPr>
              <a:t>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0" y="2834640"/>
            <a:ext cx="224028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50" b="1" i="0">
                <a:solidFill>
                  <a:srgbClr val="E6EBF5"/>
                </a:solidFill>
                <a:latin typeface="맑은 고딕"/>
              </a:rPr>
              <a:t>브라우저 종료 시 자동 해제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0" y="3520440"/>
            <a:ext cx="2240280" cy="182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B96B3"/>
                </a:solidFill>
                <a:latin typeface="맑은 고딕"/>
              </a:rPr>
              <a:t>탭을 닫으면 잠깐의 유예 시간 후 DB 연결을 자동 종료해, 실수로 켜둔 채 방치되는 연결을 방지.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8B96B3"/>
                </a:solidFill>
                <a:latin typeface="맑은 고딕"/>
              </a:rPr>
              <a:t>OraPulse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8B96B3"/>
                </a:solidFill>
                <a:latin typeface="맑은 고딕"/>
              </a:rPr>
              <a:t>09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F7CFF"/>
                </a:solidFill>
                <a:latin typeface="맑은 고딕"/>
              </a:rPr>
              <a:t>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0392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000" b="1" i="0">
                <a:solidFill>
                  <a:srgbClr val="E6EBF5"/>
                </a:solidFill>
                <a:latin typeface="맑은 고딕"/>
              </a:rPr>
              <a:t>배포 방식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554480"/>
            <a:ext cx="548640" cy="0"/>
          </a:xfrm>
          <a:prstGeom prst="line">
            <a:avLst/>
          </a:prstGeom>
          <a:ln w="38100">
            <a:solidFill>
              <a:srgbClr val="4F7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40080" y="1828800"/>
            <a:ext cx="3520440" cy="2286000"/>
          </a:xfrm>
          <a:prstGeom prst="roundRect">
            <a:avLst>
              <a:gd name="adj" fmla="val 6000"/>
            </a:avLst>
          </a:prstGeom>
          <a:solidFill>
            <a:srgbClr val="16213A"/>
          </a:solidFill>
          <a:ln w="12700">
            <a:solidFill>
              <a:srgbClr val="4F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029968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E6EBF5"/>
                </a:solidFill>
                <a:latin typeface="맑은 고딕"/>
              </a:rPr>
              <a:t>단일 실행 파일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" y="2450592"/>
            <a:ext cx="3008376" cy="384048"/>
          </a:xfrm>
          <a:prstGeom prst="roundRect">
            <a:avLst>
              <a:gd name="adj" fmla="val 50000"/>
            </a:avLst>
          </a:prstGeom>
          <a:solidFill>
            <a:srgbClr val="0A0F1C"/>
          </a:solidFill>
          <a:ln w="9525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>
            <a:noAutofit/>
          </a:bodyPr>
          <a:lstStyle/>
          <a:p>
            <a:pPr algn="ctr"/>
            <a:r>
              <a:rPr sz="1050" b="1">
                <a:solidFill>
                  <a:srgbClr val="4F7CFF"/>
                </a:solidFill>
                <a:latin typeface="맑은 고딕"/>
              </a:rPr>
              <a:t>OraPulse_ver_x.xxxx.exe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999232"/>
            <a:ext cx="3008376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8B96B3"/>
                </a:solidFill>
                <a:latin typeface="맑은 고딕"/>
              </a:rPr>
              <a:t>exe 파일 하나만 복사하면 어디서든 바로 실행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828800"/>
            <a:ext cx="3520440" cy="2286000"/>
          </a:xfrm>
          <a:prstGeom prst="roundRect">
            <a:avLst>
              <a:gd name="adj" fmla="val 6000"/>
            </a:avLst>
          </a:prstGeom>
          <a:solidFill>
            <a:srgbClr val="16213A"/>
          </a:solidFill>
          <a:ln w="12700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36592" y="2029968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E6EBF5"/>
                </a:solidFill>
                <a:latin typeface="맑은 고딕"/>
              </a:rPr>
              <a:t>폴더형 배포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36592" y="2450592"/>
            <a:ext cx="3008376" cy="384048"/>
          </a:xfrm>
          <a:prstGeom prst="roundRect">
            <a:avLst>
              <a:gd name="adj" fmla="val 50000"/>
            </a:avLst>
          </a:prstGeom>
          <a:solidFill>
            <a:srgbClr val="0A0F1C"/>
          </a:solidFill>
          <a:ln w="9525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>
            <a:noAutofit/>
          </a:bodyPr>
          <a:lstStyle/>
          <a:p>
            <a:pPr algn="ctr"/>
            <a:r>
              <a:rPr sz="1050" b="1">
                <a:solidFill>
                  <a:srgbClr val="7C5CFF"/>
                </a:solidFill>
                <a:latin typeface="맑은 고딕"/>
              </a:rPr>
              <a:t>OraPulse_ver_x.xxxx 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6592" y="2999232"/>
            <a:ext cx="3008376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8B96B3"/>
                </a:solidFill>
                <a:latin typeface="맑은 고딕"/>
              </a:rPr>
              <a:t>exe + lib + public, 상용 프로그램 같은 폴더 구조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828800"/>
            <a:ext cx="3520440" cy="2286000"/>
          </a:xfrm>
          <a:prstGeom prst="roundRect">
            <a:avLst>
              <a:gd name="adj" fmla="val 6000"/>
            </a:avLst>
          </a:prstGeom>
          <a:solidFill>
            <a:srgbClr val="16213A"/>
          </a:solidFill>
          <a:ln w="12700">
            <a:solidFill>
              <a:srgbClr val="4FE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77072" y="2029968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E6EBF5"/>
                </a:solidFill>
                <a:latin typeface="맑은 고딕"/>
              </a:rPr>
              <a:t>정식 설치 프로그램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77072" y="2450592"/>
            <a:ext cx="3008376" cy="384048"/>
          </a:xfrm>
          <a:prstGeom prst="roundRect">
            <a:avLst>
              <a:gd name="adj" fmla="val 50000"/>
            </a:avLst>
          </a:prstGeom>
          <a:solidFill>
            <a:srgbClr val="0A0F1C"/>
          </a:solidFill>
          <a:ln w="9525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>
            <a:noAutofit/>
          </a:bodyPr>
          <a:lstStyle/>
          <a:p>
            <a:pPr algn="ctr"/>
            <a:r>
              <a:rPr sz="1050" b="1">
                <a:solidFill>
                  <a:srgbClr val="4FE3A3"/>
                </a:solidFill>
                <a:latin typeface="맑은 고딕"/>
              </a:rPr>
              <a:t>OraPulse-Setup_ver_x.xxxx.exe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7072" y="2999232"/>
            <a:ext cx="3008376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8B96B3"/>
                </a:solidFill>
                <a:latin typeface="맑은 고딕"/>
              </a:rPr>
              <a:t>시작메뉴 등록, 언인스톨러 포함, 관리자 권한 불필요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434840"/>
            <a:ext cx="10881360" cy="1600200"/>
          </a:xfrm>
          <a:prstGeom prst="roundRect">
            <a:avLst>
              <a:gd name="adj" fmla="val 5000"/>
            </a:avLst>
          </a:prstGeom>
          <a:solidFill>
            <a:srgbClr val="16213A"/>
          </a:solidFill>
          <a:ln w="12700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617720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F7CFF"/>
                </a:solidFill>
                <a:latin typeface="맑은 고딕"/>
              </a:rPr>
              <a:t>실행 경험도 함께 개선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02920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4FE3A3"/>
                </a:solidFill>
                <a:latin typeface="맑은 고딕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61872" y="5029200"/>
            <a:ext cx="49377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500" b="1" i="0">
                <a:solidFill>
                  <a:srgbClr val="E6EBF5"/>
                </a:solidFill>
                <a:latin typeface="맑은 고딕"/>
              </a:rPr>
              <a:t>트레이 아이콘 상주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61872" y="5321808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8B96B3"/>
                </a:solidFill>
                <a:latin typeface="맑은 고딕"/>
              </a:rPr>
              <a:t>콘솔 창 없이 시스템 트레이에서 실행 -- 종료도 트레이 메뉴에서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502920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1" i="0">
                <a:solidFill>
                  <a:srgbClr val="4FE3A3"/>
                </a:solidFill>
                <a:latin typeface="맑은 고딕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5029200"/>
            <a:ext cx="49377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500" b="1" i="0">
                <a:solidFill>
                  <a:srgbClr val="E6EBF5"/>
                </a:solidFill>
                <a:latin typeface="맑은 고딕"/>
              </a:rPr>
              <a:t>버전 관리 (1.NNNN)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5321808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8B96B3"/>
                </a:solidFill>
                <a:latin typeface="맑은 고딕"/>
              </a:rPr>
              <a:t>변경마다 자동 증가, /api/version으로 항상 확인 가능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8B96B3"/>
                </a:solidFill>
                <a:latin typeface="맑은 고딕"/>
              </a:rPr>
              <a:t>OraPulse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8B96B3"/>
                </a:solidFill>
                <a:latin typeface="맑은 고딕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F7CFF"/>
                </a:solidFill>
                <a:latin typeface="맑은 고딕"/>
              </a:rPr>
              <a:t>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0392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000" b="1" i="0">
                <a:solidFill>
                  <a:srgbClr val="E6EBF5"/>
                </a:solidFill>
                <a:latin typeface="맑은 고딕"/>
              </a:rPr>
              <a:t>기술 스택 &amp; 아키텍처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554480"/>
            <a:ext cx="548640" cy="0"/>
          </a:xfrm>
          <a:prstGeom prst="line">
            <a:avLst/>
          </a:prstGeom>
          <a:ln w="38100">
            <a:solidFill>
              <a:srgbClr val="4F7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40080" y="1828800"/>
            <a:ext cx="5212080" cy="4206240"/>
          </a:xfrm>
          <a:prstGeom prst="roundRect">
            <a:avLst>
              <a:gd name="adj" fmla="val 5000"/>
            </a:avLst>
          </a:prstGeom>
          <a:solidFill>
            <a:srgbClr val="16213A"/>
          </a:solidFill>
          <a:ln w="12700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500" b="1" i="0">
                <a:solidFill>
                  <a:srgbClr val="4F7CFF"/>
                </a:solidFill>
                <a:latin typeface="맑은 고딕"/>
              </a:rPr>
              <a:t>백엔드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1460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500" b="1" i="0">
                <a:solidFill>
                  <a:srgbClr val="4FE3A3"/>
                </a:solidFill>
                <a:latin typeface="맑은 고딕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2514600"/>
            <a:ext cx="44805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1" i="0">
                <a:solidFill>
                  <a:srgbClr val="E6EBF5"/>
                </a:solidFill>
                <a:latin typeface="맑은 고딕"/>
              </a:rPr>
              <a:t>Python + FastAPI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2807208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B96B3"/>
                </a:solidFill>
                <a:latin typeface="맑은 고딕"/>
              </a:rPr>
              <a:t>Node.js/Express에서 통계 분석 확장을 염두에 두고 전환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8328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500" b="1" i="0">
                <a:solidFill>
                  <a:srgbClr val="4FE3A3"/>
                </a:solidFill>
                <a:latin typeface="맑은 고딕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" y="3383280"/>
            <a:ext cx="44805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1" i="0">
                <a:solidFill>
                  <a:srgbClr val="E6EBF5"/>
                </a:solidFill>
                <a:latin typeface="맑은 고딕"/>
              </a:rPr>
              <a:t>python-oracledb (Thin mode)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1872" y="3675888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B96B3"/>
                </a:solidFill>
                <a:latin typeface="맑은 고딕"/>
              </a:rPr>
              <a:t>Oracle Instant Client 설치 없이 12.1+ 전 버전 지원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5196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500" b="1" i="0">
                <a:solidFill>
                  <a:srgbClr val="4FE3A3"/>
                </a:solidFill>
                <a:latin typeface="맑은 고딕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4251960"/>
            <a:ext cx="44805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1" i="0">
                <a:solidFill>
                  <a:srgbClr val="E6EBF5"/>
                </a:solidFill>
                <a:latin typeface="맑은 고딕"/>
              </a:rPr>
              <a:t>요청 단위 커넥션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4544568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B96B3"/>
                </a:solidFill>
                <a:latin typeface="맑은 고딕"/>
              </a:rPr>
              <a:t>커넥션 풀 없이 매 요청마다 열고 닫는 단순한 구조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12064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500" b="1" i="0">
                <a:solidFill>
                  <a:srgbClr val="4FE3A3"/>
                </a:solidFill>
                <a:latin typeface="맑은 고딕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5120640"/>
            <a:ext cx="44805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1" i="0">
                <a:solidFill>
                  <a:srgbClr val="E6EBF5"/>
                </a:solidFill>
                <a:latin typeface="맑은 고딕"/>
              </a:rPr>
              <a:t>PyInstaller 패키징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61872" y="5413248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B96B3"/>
                </a:solidFill>
                <a:latin typeface="맑은 고딕"/>
              </a:rPr>
              <a:t>Python 런타임 없는 환경에서도 단일 exe로 실행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1828800"/>
            <a:ext cx="5257800" cy="4206240"/>
          </a:xfrm>
          <a:prstGeom prst="roundRect">
            <a:avLst>
              <a:gd name="adj" fmla="val 5000"/>
            </a:avLst>
          </a:prstGeom>
          <a:solidFill>
            <a:srgbClr val="16213A"/>
          </a:solidFill>
          <a:ln w="12700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205740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500" b="1" i="0">
                <a:solidFill>
                  <a:srgbClr val="7C5CFF"/>
                </a:solidFill>
                <a:latin typeface="맑은 고딕"/>
              </a:rPr>
              <a:t>프론트엔드 &amp; 배포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51460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500" b="1" i="0">
                <a:solidFill>
                  <a:srgbClr val="7C5CFF"/>
                </a:solidFill>
                <a:latin typeface="맑은 고딕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85432" y="2514600"/>
            <a:ext cx="44805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1" i="0">
                <a:solidFill>
                  <a:srgbClr val="E6EBF5"/>
                </a:solidFill>
                <a:latin typeface="맑은 고딕"/>
              </a:rPr>
              <a:t>순수 HTML/CSS/JS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85432" y="2807208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B96B3"/>
                </a:solidFill>
                <a:latin typeface="맑은 고딕"/>
              </a:rPr>
              <a:t>프레임워크 없이 직접 구현 -- 백엔드 언어와 완전히 독립적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338328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500" b="1" i="0">
                <a:solidFill>
                  <a:srgbClr val="7C5CFF"/>
                </a:solidFill>
                <a:latin typeface="맑은 고딕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85432" y="3383280"/>
            <a:ext cx="44805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1" i="0">
                <a:solidFill>
                  <a:srgbClr val="E6EBF5"/>
                </a:solidFill>
                <a:latin typeface="맑은 고딕"/>
              </a:rPr>
              <a:t>다국어 (한/영) + 다크·라이트 테마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85432" y="3675888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B96B3"/>
                </a:solidFill>
                <a:latin typeface="맑은 고딕"/>
              </a:rPr>
              <a:t>런타임 전환, 새로고침 없이 즉시 반영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425196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500" b="1" i="0">
                <a:solidFill>
                  <a:srgbClr val="7C5CFF"/>
                </a:solidFill>
                <a:latin typeface="맑은 고딕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85432" y="4251960"/>
            <a:ext cx="44805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1" i="0">
                <a:solidFill>
                  <a:srgbClr val="E6EBF5"/>
                </a:solidFill>
                <a:latin typeface="맑은 고딕"/>
              </a:rPr>
              <a:t>Inno Setup 설치 프로그램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85432" y="4544568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B96B3"/>
                </a:solidFill>
                <a:latin typeface="맑은 고딕"/>
              </a:rPr>
              <a:t>무설치 실행파일부터 정식 인스톨러까지 단계별 배포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512064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500" b="1" i="0">
                <a:solidFill>
                  <a:srgbClr val="7C5CFF"/>
                </a:solidFill>
                <a:latin typeface="맑은 고딕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85432" y="5120640"/>
            <a:ext cx="44805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1" i="0">
                <a:solidFill>
                  <a:srgbClr val="E6EBF5"/>
                </a:solidFill>
                <a:latin typeface="맑은 고딕"/>
              </a:rPr>
              <a:t>시스템 트레이 상주 (pystray)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85432" y="5413248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B96B3"/>
                </a:solidFill>
                <a:latin typeface="맑은 고딕"/>
              </a:rPr>
              <a:t>콘솔 창 없이 백그라운드 상주, 트레이에서 종료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8B96B3"/>
                </a:solidFill>
                <a:latin typeface="맑은 고딕"/>
              </a:rPr>
              <a:t>OraPulse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8B96B3"/>
                </a:solidFill>
                <a:latin typeface="맑은 고딕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F7CFF"/>
                </a:solidFill>
                <a:latin typeface="맑은 고딕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0392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000" b="1" i="0">
                <a:solidFill>
                  <a:srgbClr val="E6EBF5"/>
                </a:solidFill>
                <a:latin typeface="맑은 고딕"/>
              </a:rPr>
              <a:t>향후 계획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554480"/>
            <a:ext cx="548640" cy="0"/>
          </a:xfrm>
          <a:prstGeom prst="line">
            <a:avLst/>
          </a:prstGeom>
          <a:ln w="38100">
            <a:solidFill>
              <a:srgbClr val="4F7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40080" y="1920240"/>
            <a:ext cx="2606040" cy="3291840"/>
          </a:xfrm>
          <a:prstGeom prst="roundRect">
            <a:avLst>
              <a:gd name="adj" fmla="val 6000"/>
            </a:avLst>
          </a:prstGeom>
          <a:solidFill>
            <a:srgbClr val="16213A"/>
          </a:solidFill>
          <a:ln w="12700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21408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4F7CFF"/>
                </a:solidFill>
                <a:latin typeface="맑은 고딕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06040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50" b="1" i="0">
                <a:solidFill>
                  <a:srgbClr val="E6EBF5"/>
                </a:solidFill>
                <a:latin typeface="맑은 고딕"/>
              </a:rPr>
              <a:t>추세 예측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108960"/>
            <a:ext cx="2240280" cy="1920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8B96B3"/>
                </a:solidFill>
                <a:latin typeface="맑은 고딕"/>
              </a:rPr>
              <a:t>테이블스페이스 증가율 등 시계열 데이터를 바탕으로 한 용량 추세 예측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920240"/>
            <a:ext cx="2606040" cy="3291840"/>
          </a:xfrm>
          <a:prstGeom prst="roundRect">
            <a:avLst>
              <a:gd name="adj" fmla="val 6000"/>
            </a:avLst>
          </a:prstGeom>
          <a:solidFill>
            <a:srgbClr val="16213A"/>
          </a:solidFill>
          <a:ln w="12700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2121408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4F7CFF"/>
                </a:solidFill>
                <a:latin typeface="맑은 고딕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606040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50" b="1" i="0">
                <a:solidFill>
                  <a:srgbClr val="E6EBF5"/>
                </a:solidFill>
                <a:latin typeface="맑은 고딕"/>
              </a:rPr>
              <a:t>이상 탐지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108960"/>
            <a:ext cx="2240280" cy="1920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8B96B3"/>
                </a:solidFill>
                <a:latin typeface="맑은 고딕"/>
              </a:rPr>
              <a:t>평소 패턴을 벗어난 세션/SQL 실행 시간 등을 자동으로 탐지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920240"/>
            <a:ext cx="2606040" cy="3291840"/>
          </a:xfrm>
          <a:prstGeom prst="roundRect">
            <a:avLst>
              <a:gd name="adj" fmla="val 6000"/>
            </a:avLst>
          </a:prstGeom>
          <a:solidFill>
            <a:srgbClr val="16213A"/>
          </a:solidFill>
          <a:ln w="12700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121408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4F7CFF"/>
                </a:solidFill>
                <a:latin typeface="맑은 고딕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606040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50" b="1" i="0">
                <a:solidFill>
                  <a:srgbClr val="E6EBF5"/>
                </a:solidFill>
                <a:latin typeface="맑은 고딕"/>
              </a:rPr>
              <a:t>SQL 백분위 분석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108960"/>
            <a:ext cx="2240280" cy="1920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8B96B3"/>
                </a:solidFill>
                <a:latin typeface="맑은 고딕"/>
              </a:rPr>
              <a:t>실행시간 분포(P50/P90/P99)로 이상 SQL을 통계적으로 선별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1920240"/>
            <a:ext cx="2606040" cy="3291840"/>
          </a:xfrm>
          <a:prstGeom prst="roundRect">
            <a:avLst>
              <a:gd name="adj" fmla="val 6000"/>
            </a:avLst>
          </a:prstGeom>
          <a:solidFill>
            <a:srgbClr val="16213A"/>
          </a:solidFill>
          <a:ln w="12700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0" y="2121408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4F7CFF"/>
                </a:solidFill>
                <a:latin typeface="맑은 고딕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2606040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50" b="1" i="0">
                <a:solidFill>
                  <a:srgbClr val="E6EBF5"/>
                </a:solidFill>
                <a:latin typeface="맑은 고딕"/>
              </a:rPr>
              <a:t>Alert Log 빈도 분석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3108960"/>
            <a:ext cx="2240280" cy="1920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8B96B3"/>
                </a:solidFill>
                <a:latin typeface="맑은 고딕"/>
              </a:rPr>
              <a:t>ORA 에러 발생 추이를 기간별로 집계해 패턴 파악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440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1">
                <a:solidFill>
                  <a:srgbClr val="8B96B3"/>
                </a:solidFill>
                <a:latin typeface="맑은 고딕"/>
              </a:rPr>
              <a:t>* Python 기반 전환의 핵심 목적 -- 통계/데이터 분석 생태계를 그대로 활용해 위 항목들을 자연스럽게 확장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8B96B3"/>
                </a:solidFill>
                <a:latin typeface="맑은 고딕"/>
              </a:rPr>
              <a:t>OraPulse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8B96B3"/>
                </a:solidFill>
                <a:latin typeface="맑은 고딕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1965960"/>
            <a:ext cx="1463040" cy="1463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3657600"/>
            <a:ext cx="12191695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3600" b="1" i="0">
                <a:solidFill>
                  <a:srgbClr val="E6EBF5"/>
                </a:solidFill>
                <a:latin typeface="맑은 고딕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29768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500" b="1" i="0">
                <a:solidFill>
                  <a:srgbClr val="4F7CFF"/>
                </a:solidFill>
                <a:latin typeface="맑은 고딕"/>
              </a:rPr>
              <a:t>OraPulse -- Oracle Database Monitoring Client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