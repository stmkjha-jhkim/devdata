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62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4206240" y="0"/>
            <a:ext cx="0" cy="6858000"/>
          </a:xfrm>
          <a:prstGeom prst="line">
            <a:avLst/>
          </a:prstGeom>
          <a:ln w="1905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slide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40"/>
            <a:ext cx="1188720" cy="1188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352044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E6EBF5"/>
                </a:solidFill>
                <a:latin typeface="맑은 고딕"/>
                <a:ea typeface="맑은 고딕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7CFF"/>
                </a:solidFill>
                <a:latin typeface="맑은 고딕"/>
                <a:ea typeface="맑은 고딕"/>
              </a:rPr>
              <a:t>Oracle DB Monitor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103120"/>
            <a:ext cx="6675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8B96B3"/>
                </a:solidFill>
                <a:latin typeface="맑은 고딕"/>
                <a:ea typeface="맑은 고딕"/>
              </a:rPr>
              <a:t>제품 소개자료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606040"/>
            <a:ext cx="6949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6EBF5"/>
                </a:solidFill>
                <a:latin typeface="맑은 고딕"/>
                <a:ea typeface="맑은 고딕"/>
              </a:rPr>
              <a:t>설치 없이, 로그인 없이,</a:t>
            </a:r>
          </a:p>
          <a:p>
            <a:pPr algn="l">
              <a:lnSpc>
                <a:spcPct val="105000"/>
              </a:lnSpc>
            </a:pPr>
            <a:r>
              <a:rPr sz="3200" b="1">
                <a:solidFill>
                  <a:srgbClr val="E6EBF5"/>
                </a:solidFill>
                <a:latin typeface="맑은 고딕"/>
                <a:ea typeface="맑은 고딕"/>
              </a:rPr>
              <a:t>내 PC에서 바로 켜는</a:t>
            </a:r>
          </a:p>
          <a:p>
            <a:pPr algn="l">
              <a:lnSpc>
                <a:spcPct val="105000"/>
              </a:lnSpc>
            </a:pPr>
            <a:r>
              <a:rPr sz="3200" b="1">
                <a:solidFill>
                  <a:srgbClr val="E6EBF5"/>
                </a:solidFill>
                <a:latin typeface="맑은 고딕"/>
                <a:ea typeface="맑은 고딕"/>
              </a:rPr>
              <a:t>Oracle DB 실시간 모니터링 도구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4343400"/>
            <a:ext cx="1371600" cy="384048"/>
          </a:xfrm>
          <a:prstGeom prst="roundRect">
            <a:avLst/>
          </a:prstGeom>
          <a:solidFill>
            <a:srgbClr val="1B2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4343400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4FE3A3"/>
                </a:solidFill>
                <a:latin typeface="맑은 고딕"/>
                <a:ea typeface="맑은 고딕"/>
              </a:rPr>
              <a:t>v1.0049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6172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B96B3"/>
                </a:solidFill>
                <a:latin typeface="맑은 고딕"/>
                <a:ea typeface="맑은 고딕"/>
              </a:rPr>
              <a:t>2026. 09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맑은 고딕"/>
                <a:ea typeface="맑은 고딕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맑은 고딕"/>
                <a:ea typeface="맑은 고딕"/>
              </a:rPr>
              <a:t>목차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02 /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4F7C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0136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EBF5"/>
                </a:solidFill>
                <a:latin typeface="맑은 고딕"/>
                <a:ea typeface="맑은 고딕"/>
              </a:rPr>
              <a:t>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6712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OraPulse란 무엇이고 왜 만들었는가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0080" y="2585640"/>
            <a:ext cx="5212080" cy="0"/>
          </a:xfrm>
          <a:prstGeom prst="line">
            <a:avLst/>
          </a:prstGeom>
          <a:ln w="9525">
            <a:solidFill>
              <a:srgbClr val="263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40080" y="27228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4F7C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9536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EBF5"/>
                </a:solidFill>
                <a:latin typeface="맑은 고딕"/>
                <a:ea typeface="맑은 고딕"/>
              </a:rPr>
              <a:t>아키텍처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06112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로컬 실행 구조와 동작 원리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" y="3479640"/>
            <a:ext cx="5212080" cy="0"/>
          </a:xfrm>
          <a:prstGeom prst="line">
            <a:avLst/>
          </a:prstGeom>
          <a:ln w="9525">
            <a:solidFill>
              <a:srgbClr val="263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0080" y="36168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4F7C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58936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EBF5"/>
                </a:solidFill>
                <a:latin typeface="맑은 고딕"/>
                <a:ea typeface="맑은 고딕"/>
              </a:rPr>
              <a:t>핵심 기능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95512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한눈에 보는 전체 기능 요약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4373640"/>
            <a:ext cx="5212080" cy="0"/>
          </a:xfrm>
          <a:prstGeom prst="line">
            <a:avLst/>
          </a:prstGeom>
          <a:ln w="9525">
            <a:solidFill>
              <a:srgbClr val="263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45108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4F7C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48336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EBF5"/>
                </a:solidFill>
                <a:latin typeface="맑은 고딕"/>
                <a:ea typeface="맑은 고딕"/>
              </a:rPr>
              <a:t>DashBoard 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84912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실시간 인스턴스·세션 모니터링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5267640"/>
            <a:ext cx="5212080" cy="0"/>
          </a:xfrm>
          <a:prstGeom prst="line">
            <a:avLst/>
          </a:prstGeom>
          <a:ln w="9525">
            <a:solidFill>
              <a:srgbClr val="263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54048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4F7CFF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37736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EBF5"/>
                </a:solidFill>
                <a:latin typeface="맑은 고딕"/>
                <a:ea typeface="맑은 고딕"/>
              </a:rPr>
              <a:t>Ops · Recovery 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74312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운영 진단과 복구 상태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18288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4F7CFF"/>
                </a:solidFill>
                <a:latin typeface="맑은 고딕"/>
                <a:ea typeface="맑은 고딕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1801368"/>
            <a:ext cx="4556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EBF5"/>
                </a:solidFill>
                <a:latin typeface="맑은 고딕"/>
                <a:ea typeface="맑은 고딕"/>
              </a:rPr>
              <a:t>Tuning 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2167128"/>
            <a:ext cx="4556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규칙 기반 튜닝 어드바이저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263640" y="2585640"/>
            <a:ext cx="5288280" cy="0"/>
          </a:xfrm>
          <a:prstGeom prst="line">
            <a:avLst/>
          </a:prstGeom>
          <a:ln w="9525">
            <a:solidFill>
              <a:srgbClr val="263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263640" y="27228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4F7CFF"/>
                </a:solidFill>
                <a:latin typeface="맑은 고딕"/>
                <a:ea typeface="맑은 고딕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695368"/>
            <a:ext cx="4556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EBF5"/>
                </a:solidFill>
                <a:latin typeface="맑은 고딕"/>
                <a:ea typeface="맑은 고딕"/>
              </a:rPr>
              <a:t>Obj View / SQL 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3061128"/>
            <a:ext cx="4556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오브젝트 탐색과 쿼리 실행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263640" y="3479640"/>
            <a:ext cx="5288280" cy="0"/>
          </a:xfrm>
          <a:prstGeom prst="line">
            <a:avLst/>
          </a:prstGeom>
          <a:ln w="9525">
            <a:solidFill>
              <a:srgbClr val="263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263640" y="36168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4F7CFF"/>
                </a:solidFill>
                <a:latin typeface="맑은 고딕"/>
                <a:ea typeface="맑은 고딕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3589368"/>
            <a:ext cx="4556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EBF5"/>
                </a:solidFill>
                <a:latin typeface="맑은 고딕"/>
                <a:ea typeface="맑은 고딕"/>
              </a:rPr>
              <a:t>리포트 · 즐겨찾기 · 보안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3955128"/>
            <a:ext cx="4556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주간 리포트, 암호화 저장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263640" y="4373640"/>
            <a:ext cx="5288280" cy="0"/>
          </a:xfrm>
          <a:prstGeom prst="line">
            <a:avLst/>
          </a:prstGeom>
          <a:ln w="9525">
            <a:solidFill>
              <a:srgbClr val="2631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263640" y="45108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4F7CFF"/>
                </a:solidFill>
                <a:latin typeface="맑은 고딕"/>
                <a:ea typeface="맑은 고딕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4483368"/>
            <a:ext cx="4556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EBF5"/>
                </a:solidFill>
                <a:latin typeface="맑은 고딕"/>
                <a:ea typeface="맑은 고딕"/>
              </a:rPr>
              <a:t>배포 · 요구사항 · 기술 스택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4849128"/>
            <a:ext cx="4556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패키징과 시스템 구성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맑은 고딕"/>
                <a:ea typeface="맑은 고딕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맑은 고딕"/>
                <a:ea typeface="맑은 고딕"/>
              </a:rPr>
              <a:t>개요 — OraPulse는 왜 필요한가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03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5212080" cy="4206240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E6EBF5"/>
                </a:solidFill>
                <a:latin typeface="맑은 고딕"/>
                <a:ea typeface="맑은 고딕"/>
              </a:rPr>
              <a:t>기존 방식의 불편함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맑은 고딕"/>
                <a:ea typeface="맑은 고딕"/>
              </a:rPr>
              <a:t>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606040"/>
            <a:ext cx="4407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무거운 상용 모니터링 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916936"/>
            <a:ext cx="4407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별도 서버 구축·에이전트 설치·라이선스 비용이 필요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4728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맑은 고딕"/>
                <a:ea typeface="맑은 고딕"/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447288"/>
            <a:ext cx="4407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SQL Developer / Toad 같은 데스크톱 클라이언트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3758184"/>
            <a:ext cx="4407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PC마다 개별 설치, 접속 정보가 저장되지 않음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88536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맑은 고딕"/>
                <a:ea typeface="맑은 고딕"/>
              </a:rP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4288536"/>
            <a:ext cx="4407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공용 계정 · 공유 서버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4599432"/>
            <a:ext cx="4407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여러 사람이 같은 인증 정보와 중앙 서버를 나눠 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828800"/>
            <a:ext cx="5288280" cy="4206240"/>
          </a:xfrm>
          <a:prstGeom prst="rect">
            <a:avLst/>
          </a:prstGeom>
          <a:solidFill>
            <a:srgbClr val="16213A"/>
          </a:solidFill>
          <a:ln w="1270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103120"/>
            <a:ext cx="4739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E6EBF5"/>
                </a:solidFill>
                <a:latin typeface="맑은 고딕"/>
                <a:ea typeface="맑은 고딕"/>
              </a:rPr>
              <a:t>OraPulse의 접근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6060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E3A3"/>
                </a:solidFill>
                <a:latin typeface="맑은 고딕"/>
                <a:ea typeface="맑은 고딕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3992" y="2606040"/>
            <a:ext cx="44836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로그인 없는 단일 사용자 구조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3992" y="2916936"/>
            <a:ext cx="4483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입력한 Oracle 계정/비밀번호가 유일한 인증 정보이며 이 PC 밖으로 전송되지 않음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44728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E3A3"/>
                </a:solidFill>
                <a:latin typeface="맑은 고딕"/>
                <a:ea typeface="맑은 고딕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3992" y="3447288"/>
            <a:ext cx="44836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127.0.0.1 전용 바인딩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3992" y="3758184"/>
            <a:ext cx="4483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서버가 로컬 루프백에만 열려 이 PC 밖에서는 애초에 접근 경로가 없음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288536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E3A3"/>
                </a:solidFill>
                <a:latin typeface="맑은 고딕"/>
                <a:ea typeface="맑은 고딕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93992" y="4288536"/>
            <a:ext cx="44836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12.1 이상 모든 에디션 지원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93992" y="4599432"/>
            <a:ext cx="4483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V$/DBA_ 뷰만 사용 — Diagnostics/Tuning Pack 라이선스 불필요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맑은 고딕"/>
                <a:ea typeface="맑은 고딕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맑은 고딕"/>
                <a:ea typeface="맑은 고딕"/>
              </a:rPr>
              <a:t>아키텍처 — 어떻게 동작하는가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04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3244320" cy="1440000"/>
          </a:xfrm>
          <a:prstGeom prst="rect">
            <a:avLst/>
          </a:prstGeom>
          <a:solidFill>
            <a:srgbClr val="16213A"/>
          </a:solidFill>
          <a:ln w="1905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48840"/>
            <a:ext cx="2878560" cy="14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브라우저</a:t>
            </a:r>
          </a:p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(대시보드 UI)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84400" y="2868840"/>
            <a:ext cx="411480" cy="0"/>
          </a:xfrm>
          <a:prstGeom prst="line">
            <a:avLst/>
          </a:prstGeom>
          <a:ln w="19050">
            <a:solidFill>
              <a:srgbClr val="8B96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295880" y="2148840"/>
            <a:ext cx="3244320" cy="1440000"/>
          </a:xfrm>
          <a:prstGeom prst="rect">
            <a:avLst/>
          </a:prstGeom>
          <a:solidFill>
            <a:srgbClr val="16213A"/>
          </a:solidFill>
          <a:ln w="19050">
            <a:solidFill>
              <a:srgbClr val="4FE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8760" y="2148840"/>
            <a:ext cx="2878560" cy="14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OraPulse 로컬 서버</a:t>
            </a:r>
          </a:p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127.0.0.1 : 자동 할당 포트</a:t>
            </a:r>
          </a:p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FastAPI + python-oracledb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40200" y="2868840"/>
            <a:ext cx="411480" cy="0"/>
          </a:xfrm>
          <a:prstGeom prst="line">
            <a:avLst/>
          </a:prstGeom>
          <a:ln w="19050">
            <a:solidFill>
              <a:srgbClr val="8B96B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7951680" y="2148840"/>
            <a:ext cx="3244320" cy="1440000"/>
          </a:xfrm>
          <a:prstGeom prst="rect">
            <a:avLst/>
          </a:prstGeom>
          <a:solidFill>
            <a:srgbClr val="16213A"/>
          </a:solidFill>
          <a:ln w="19050">
            <a:solidFill>
              <a:srgbClr val="E8B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4560" y="2148840"/>
            <a:ext cx="2878560" cy="14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Oracle Database</a:t>
            </a:r>
          </a:p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12.1 이상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003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4F7CFF"/>
                </a:solidFill>
                <a:latin typeface="맑은 고딕"/>
                <a:ea typeface="맑은 고딕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00320"/>
            <a:ext cx="1063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단일 Python 백엔드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11216"/>
            <a:ext cx="1063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main.py(FastAPI)가 REST API와 public/의 정적 프론트엔드를 함께 서비스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7775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4F7CFF"/>
                </a:solidFill>
                <a:latin typeface="맑은 고딕"/>
                <a:ea typeface="맑은 고딕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77560"/>
            <a:ext cx="1063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Thin mode 드라이버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088456"/>
            <a:ext cx="1063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python-oracledb의 순수 Python 구현만 사용 — Oracle Instant Client 설치 불필요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554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4F7CFF"/>
                </a:solidFill>
                <a:latin typeface="맑은 고딕"/>
                <a:ea typeface="맑은 고딕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54800"/>
            <a:ext cx="1063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레거시 Node.js 구현은 참고용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65696"/>
            <a:ext cx="10637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초기 병행 개발되었던 Express 구현은 legacy-nodejs/에 보관만 되어 있으며 더 이상 빌드·실행·테스트되지 않음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맑은 고딕"/>
                <a:ea typeface="맑은 고딕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맑은 고딕"/>
                <a:ea typeface="맑은 고딕"/>
              </a:rPr>
              <a:t>핵심 기능 한눈에 보기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05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3520440" cy="1443552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2057400"/>
            <a:ext cx="128016" cy="128016"/>
          </a:xfrm>
          <a:prstGeom prst="ellipse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987296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E6EBF5"/>
                </a:solidFill>
                <a:latin typeface="맑은 고딕"/>
                <a:ea typeface="맑은 고딕"/>
              </a:rP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450592"/>
            <a:ext cx="3063240" cy="63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인스턴스 정보 · CPU/메모리 · 세션/차단/장기실행 세션 · 테이블 통계 · 스케줄러 실패 · 계정 보안 · Alert Log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1828800"/>
            <a:ext cx="3520440" cy="1443552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09160" y="2057400"/>
            <a:ext cx="128016" cy="128016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1987296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E6EBF5"/>
                </a:solidFill>
                <a:latin typeface="맑은 고딕"/>
                <a:ea typeface="맑은 고딕"/>
              </a:rPr>
              <a:t>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450592"/>
            <a:ext cx="3063240" cy="63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주요 파라미터 · Undo · Instance Efficiency · Load Profile · TEMP · Redo · Tablespace I/O · Top 5 SQL/대기이벤트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1828800"/>
            <a:ext cx="3520440" cy="1443552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49640" y="2057400"/>
            <a:ext cx="128016" cy="128016"/>
          </a:xfrm>
          <a:prstGeom prst="ellipse">
            <a:avLst/>
          </a:prstGeom>
          <a:solidFill>
            <a:srgbClr val="4FE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987296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E6EBF5"/>
                </a:solidFill>
                <a:latin typeface="맑은 고딕"/>
                <a:ea typeface="맑은 고딕"/>
              </a:rPr>
              <a:t>Recovery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2450592"/>
            <a:ext cx="3063240" cy="63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최근 DML Top 50 · Fast Recovery Area 개요 및 파일유형별 사용량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500952"/>
            <a:ext cx="3520440" cy="1443552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3729552"/>
            <a:ext cx="128016" cy="128016"/>
          </a:xfrm>
          <a:prstGeom prst="ellipse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365944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E6EBF5"/>
                </a:solidFill>
                <a:latin typeface="맑은 고딕"/>
                <a:ea typeface="맑은 고딕"/>
              </a:rPr>
              <a:t>Tuning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122744"/>
            <a:ext cx="3063240" cy="63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규칙 기반 어드바이저 — AWR/Tuning Pack 불필요, 암호화된 스냅샷으로 증가율 비교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3500952"/>
            <a:ext cx="3520440" cy="1443552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709160" y="3729552"/>
            <a:ext cx="128016" cy="128016"/>
          </a:xfrm>
          <a:prstGeom prst="ellipse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3480" y="365944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E6EBF5"/>
                </a:solidFill>
                <a:latin typeface="맑은 고딕"/>
                <a:ea typeface="맑은 고딕"/>
              </a:rPr>
              <a:t>Obj View / 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4122744"/>
            <a:ext cx="3063240" cy="63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SQL Developer 스타일 오브젝트 탐색기(DDL 조회) + SELECT 전용 쿼리 실행기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3500952"/>
            <a:ext cx="3520440" cy="1443552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549640" y="3729552"/>
            <a:ext cx="128016" cy="128016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23960" y="365944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E6EBF5"/>
                </a:solidFill>
                <a:latin typeface="맑은 고딕"/>
                <a:ea typeface="맑은 고딕"/>
              </a:rPr>
              <a:t>Weekly DB Health 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4122744"/>
            <a:ext cx="3063240" cy="63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15분 주기 백그라운드 스냅샷 수집 → 독립 실행형 HTML 리포트(인라인 SVG 차트)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173104"/>
            <a:ext cx="3520440" cy="1443552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68680" y="5401704"/>
            <a:ext cx="128016" cy="128016"/>
          </a:xfrm>
          <a:prstGeom prst="ellipse">
            <a:avLst/>
          </a:prstGeom>
          <a:solidFill>
            <a:srgbClr val="4FE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53316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E6EBF5"/>
                </a:solidFill>
                <a:latin typeface="맑은 고딕"/>
                <a:ea typeface="맑은 고딕"/>
              </a:rPr>
              <a:t>즐겨찾기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794896"/>
            <a:ext cx="3063240" cy="63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접속 정보(비밀번호 포함)를 AES-256-GCM으로 암호화해 로컬 저장, 원클릭 연결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0560" y="5173104"/>
            <a:ext cx="3520440" cy="1443552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709160" y="5401704"/>
            <a:ext cx="128016" cy="128016"/>
          </a:xfrm>
          <a:prstGeom prst="ellipse">
            <a:avLst/>
          </a:prstGeom>
          <a:solidFill>
            <a:srgbClr val="E8B4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83480" y="53316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E6EBF5"/>
                </a:solidFill>
                <a:latin typeface="맑은 고딕"/>
                <a:ea typeface="맑은 고딕"/>
              </a:rPr>
              <a:t>DB 부하 최소화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9160" y="5794896"/>
            <a:ext cx="3063240" cy="63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계층별 자동 갱신 주기, 탭 숨김 시 일시정지, 리더 선출, 서버 15초 응답 캐시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321040" y="5173104"/>
            <a:ext cx="3520440" cy="1443552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49640" y="5401704"/>
            <a:ext cx="128016" cy="128016"/>
          </a:xfrm>
          <a:prstGeom prst="ellipse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23960" y="53316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E6EBF5"/>
                </a:solidFill>
                <a:latin typeface="맑은 고딕"/>
                <a:ea typeface="맑은 고딕"/>
              </a:rPr>
              <a:t>데스크톱 패키징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49640" y="5794896"/>
            <a:ext cx="3063240" cy="63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트레이 아이콘 상주, 재실행 시 기존 인스턴스로 이동, 격리된 브라우저 프로필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맑은 고딕"/>
                <a:ea typeface="맑은 고딕"/>
              </a:rPr>
              <a:t>SCREEN ·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맑은 고딕"/>
                <a:ea typeface="맑은 고딕"/>
              </a:rPr>
              <a:t>화면 미리보기 — 접속 화면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06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819655"/>
            <a:ext cx="7424928" cy="4681728"/>
          </a:xfrm>
          <a:prstGeom prst="rect">
            <a:avLst/>
          </a:prstGeom>
          <a:solidFill>
            <a:srgbClr val="0A0F1C"/>
          </a:solidFill>
          <a:ln w="1905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nnect-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73152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21040" y="21031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7CFF"/>
                </a:solidFill>
                <a:latin typeface="맑은 고딕"/>
                <a:ea typeface="맑은 고딕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210312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로그인 없는 접속 화면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241401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Host/Port/SID와 Oracle 계정·비밀번호만 입력하면 바로 연결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108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7CFF"/>
                </a:solidFill>
                <a:latin typeface="맑은 고딕"/>
                <a:ea typeface="맑은 고딕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310896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즐겨찾기 드롭다운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341985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저장해둔 접속 정보를 선택만 하면 추가 클릭 없이 즉시 연결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114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7CFF"/>
                </a:solidFill>
                <a:latin typeface="맑은 고딕"/>
                <a:ea typeface="맑은 고딕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411480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AES-256-GCM 암호화 저장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442569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즐겨찾기는 비밀번호까지 포함해 이 기기에 암호화되어 저장됨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1206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7CFF"/>
                </a:solidFill>
                <a:latin typeface="맑은 고딕"/>
                <a:ea typeface="맑은 고딕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512064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임의의 Oracle 계정 지원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543153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SYSTEM 수준 권한을 권장하지만 필수는 아니며, 권한이 부족한 카드만 개별적으로 오류 표시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맑은 고딕"/>
                <a:ea typeface="맑은 고딕"/>
              </a:rPr>
              <a:t>SCREEN ·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맑은 고딕"/>
                <a:ea typeface="맑은 고딕"/>
              </a:rPr>
              <a:t>DashBoard 탭 — 실시간 상태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07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819655"/>
            <a:ext cx="7424928" cy="4681728"/>
          </a:xfrm>
          <a:prstGeom prst="rect">
            <a:avLst/>
          </a:prstGeom>
          <a:solidFill>
            <a:srgbClr val="0A0F1C"/>
          </a:solidFill>
          <a:ln w="1905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board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73152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21040" y="21031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7CFF"/>
                </a:solidFill>
                <a:latin typeface="맑은 고딕"/>
                <a:ea typeface="맑은 고딕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210312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인스턴스 정보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241401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이름·상태·호스트·전체 버전(V$INSTANCE.VERSION_FULL)·기동 시각·가동 시간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108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7CFF"/>
                </a:solidFill>
                <a:latin typeface="맑은 고딕"/>
                <a:ea typeface="맑은 고딕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310896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CPU / 메모리 사용량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341985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실시간 게이지로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114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7CFF"/>
                </a:solidFill>
                <a:latin typeface="맑은 고딕"/>
                <a:ea typeface="맑은 고딕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411480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현재 세션 목록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442569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ACTIVE 우선 정렬, Status/Machine/Program 필터, 우클릭으로 세션 종료·SQL 보기·대기 상세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1206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7CFF"/>
                </a:solidFill>
                <a:latin typeface="맑은 고딕"/>
                <a:ea typeface="맑은 고딕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512064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Blocking · Long Running Session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543153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차단 세션 목록과 V$SESSION_LONGOPS 기반 진행률 표시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맑은 고딕"/>
                <a:ea typeface="맑은 고딕"/>
              </a:rPr>
              <a:t>SCREEN ·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맑은 고딕"/>
                <a:ea typeface="맑은 고딕"/>
              </a:rPr>
              <a:t>DashBoard 탭 — 통계와 작업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08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819655"/>
            <a:ext cx="7424928" cy="4681728"/>
          </a:xfrm>
          <a:prstGeom prst="rect">
            <a:avLst/>
          </a:prstGeom>
          <a:solidFill>
            <a:srgbClr val="0A0F1C"/>
          </a:solidFill>
          <a:ln w="1905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board-tablestats-j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73152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21040" y="21031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7CFF"/>
                </a:solidFill>
                <a:latin typeface="맑은 고딕"/>
                <a:ea typeface="맑은 고딕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210312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테이블 통계정보 수집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241401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선택한 여러 테이블을 한 번에 gather stats, 우클릭 Table Properties(컬럼·인덱스)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108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7CFF"/>
                </a:solidFill>
                <a:latin typeface="맑은 고딕"/>
                <a:ea typeface="맑은 고딕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310896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스케줄러 / 작업 실패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341985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DBMS_SCHEDULER 실행 이력(SUCCEEDED 이외 전체) + legacy DBMS_JOB 실시간 스냅샷, 스키마 필터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114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7CFF"/>
                </a:solidFill>
                <a:latin typeface="맑은 고딕"/>
                <a:ea typeface="맑은 고딕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411480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모니터링 연결 자동 제외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442569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OraPulse 자신의 짧은 조회용 연결은 세션 목록/카운트에서 제외됨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맑은 고딕"/>
                <a:ea typeface="맑은 고딕"/>
              </a:rPr>
              <a:t>SCREEN ·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맑은 고딕"/>
                <a:ea typeface="맑은 고딕"/>
              </a:rPr>
              <a:t>DashBoard 탭 — 보안과 Alert Log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09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819655"/>
            <a:ext cx="7424928" cy="4681728"/>
          </a:xfrm>
          <a:prstGeom prst="rect">
            <a:avLst/>
          </a:prstGeom>
          <a:solidFill>
            <a:srgbClr val="0A0F1C"/>
          </a:solidFill>
          <a:ln w="1905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board-security-alert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73152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21040" y="21031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7CFF"/>
                </a:solidFill>
                <a:latin typeface="맑은 고딕"/>
                <a:ea typeface="맑은 고딕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210312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계정 보안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241401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DBA_USERS 기준 현재 잠긴 계정, 비밀번호가 만료됐거나 곧 만료될 계정 목록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108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7CFF"/>
                </a:solidFill>
                <a:latin typeface="맑은 고딕"/>
                <a:ea typeface="맑은 고딕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310896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Alert Log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341985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V$DIAG_ALERT_EXT 기반으로 최근 이상 징후를 확인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맑은 고딕"/>
                <a:ea typeface="맑은 고딕"/>
              </a:rPr>
              <a:t>SCREEN ·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맑은 고딕"/>
                <a:ea typeface="맑은 고딕"/>
              </a:rPr>
              <a:t>Ops 탭 — 파라미터와 효율성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10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819655"/>
            <a:ext cx="7424928" cy="4681728"/>
          </a:xfrm>
          <a:prstGeom prst="rect">
            <a:avLst/>
          </a:prstGeom>
          <a:solidFill>
            <a:srgbClr val="0A0F1C"/>
          </a:solidFill>
          <a:ln w="1905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ps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73152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21040" y="21031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5CFF"/>
                </a:solidFill>
                <a:latin typeface="맑은 고딕"/>
                <a:ea typeface="맑은 고딕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210312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주요 파라미터 &amp; Undo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241401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Key Instance Parameters와 Undo 설정/상태를 나란히 표시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108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5CFF"/>
                </a:solidFill>
                <a:latin typeface="맑은 고딕"/>
                <a:ea typeface="맑은 고딕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310896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효율성 &amp; 로드 프로파일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341985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Instance Efficiency %와 Load Profile을 나란히 표시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114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5CFF"/>
                </a:solidFill>
                <a:latin typeface="맑은 고딕"/>
                <a:ea typeface="맑은 고딕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411480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TEMP 사용량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442569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TEMP 테이블스페이스 사용량과 세션별 TEMP 사용량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1206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5CFF"/>
                </a:solidFill>
                <a:latin typeface="맑은 고딕"/>
                <a:ea typeface="맑은 고딕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512064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Datafile · Redo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543153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데이터파일 자동확장 상태(MAXSIZE 근접 여부)와 Redo Log 상태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맑은 고딕"/>
                <a:ea typeface="맑은 고딕"/>
              </a:rPr>
              <a:t>SCREEN ·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맑은 고딕"/>
                <a:ea typeface="맑은 고딕"/>
              </a:rPr>
              <a:t>Ops 탭 — Top SQL과 대기 이벤트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11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819655"/>
            <a:ext cx="7424928" cy="4681728"/>
          </a:xfrm>
          <a:prstGeom prst="rect">
            <a:avLst/>
          </a:prstGeom>
          <a:solidFill>
            <a:srgbClr val="0A0F1C"/>
          </a:solidFill>
          <a:ln w="1905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ps-topsql-wa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73152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21040" y="21031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5CFF"/>
                </a:solidFill>
                <a:latin typeface="맑은 고딕"/>
                <a:ea typeface="맑은 고딕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210312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Tablespace I/O 통계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241401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물리적 읽기(physical reads) 기준으로 정렬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108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5CFF"/>
                </a:solidFill>
                <a:latin typeface="맑은 고딕"/>
                <a:ea typeface="맑은 고딕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310896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Top 5 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341985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실행시간 상위 · CPU Time 상위 · Buffer Gets 상위 쿼리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114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5CFF"/>
                </a:solidFill>
                <a:latin typeface="맑은 고딕"/>
                <a:ea typeface="맑은 고딕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411480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Top 5 대기 이벤트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442569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가장 빈번한 대기 이벤트 상위 5개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1206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7C5CFF"/>
                </a:solidFill>
                <a:latin typeface="맑은 고딕"/>
                <a:ea typeface="맑은 고딕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512064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자유로운 카드 재배치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543153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모든 카드가 탭 간 이동을 포함해 드래그 앤 드롭 가능 — localStorage에 저장되며 앱 기본 배치와 병합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맑은 고딕"/>
                <a:ea typeface="맑은 고딕"/>
              </a:rPr>
              <a:t>SCREEN ·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맑은 고딕"/>
                <a:ea typeface="맑은 고딕"/>
              </a:rPr>
              <a:t>Recovery 탭 — 최근 DML과 FRA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12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819655"/>
            <a:ext cx="7424928" cy="4681728"/>
          </a:xfrm>
          <a:prstGeom prst="rect">
            <a:avLst/>
          </a:prstGeom>
          <a:solidFill>
            <a:srgbClr val="0A0F1C"/>
          </a:solidFill>
          <a:ln w="1905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co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73152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21040" y="21031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E3A3"/>
                </a:solidFill>
                <a:latin typeface="맑은 고딕"/>
                <a:ea typeface="맑은 고딕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210312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최근 DML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241401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Top 50, 최신순, Type/Schema 필터 제공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108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E3A3"/>
                </a:solidFill>
                <a:latin typeface="맑은 고딕"/>
                <a:ea typeface="맑은 고딕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310896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Fast Recovery Area 개요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341985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FRA 전체 사용 현황을 한눈에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114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E3A3"/>
                </a:solidFill>
                <a:latin typeface="맑은 고딕"/>
                <a:ea typeface="맑은 고딕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411480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파일 유형별 FRA 사용량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442569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유형별 사용량을 구분해서 표시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맑은 고딕"/>
                <a:ea typeface="맑은 고딕"/>
              </a:rPr>
              <a:t>SCREEN ·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맑은 고딕"/>
                <a:ea typeface="맑은 고딕"/>
              </a:rPr>
              <a:t>Tuning 탭 — 규칙 기반 어드바이저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13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819655"/>
            <a:ext cx="7424928" cy="4681728"/>
          </a:xfrm>
          <a:prstGeom prst="rect">
            <a:avLst/>
          </a:prstGeom>
          <a:solidFill>
            <a:srgbClr val="0A0F1C"/>
          </a:solidFill>
          <a:ln w="1905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u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73152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21040" y="21031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8B44F"/>
                </a:solidFill>
                <a:latin typeface="맑은 고딕"/>
                <a:ea typeface="맑은 고딕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210312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라이선스 불필요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241401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AWR/ASH나 Diagnostics/Tuning Pack 없이 동작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108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8B44F"/>
                </a:solidFill>
                <a:latin typeface="맑은 고딕"/>
                <a:ea typeface="맑은 고딕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310896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점검 항목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341985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버퍼/라이브러리 캐시 히트율 · 하드 파싱 비율 · 디스크 정렬 · 대기 이벤트 증가 · 여유공간 · Invalid Object · Blocking · 느린 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114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8B44F"/>
                </a:solidFill>
                <a:latin typeface="맑은 고딕"/>
                <a:ea typeface="맑은 고딕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411480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암호화된 스냅샷 비교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442569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증가율 기반 점검은 이전 점검과 비교 — 첫 점검은 '이력 부족'으로 표시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1206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8B44F"/>
                </a:solidFill>
                <a:latin typeface="맑은 고딕"/>
                <a:ea typeface="맑은 고딕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512064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그룹화 &amp; SQL 상세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543153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같은 유형은 표로 그룹화되고, Slow SQL의 SQL_ID를 클릭하면 전체 쿼리 확인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맑은 고딕"/>
                <a:ea typeface="맑은 고딕"/>
              </a:rPr>
              <a:t>SCREEN ·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맑은 고딕"/>
                <a:ea typeface="맑은 고딕"/>
              </a:rPr>
              <a:t>Obj View/SQL 탭 — 오브젝트 탐색기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14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819655"/>
            <a:ext cx="7424928" cy="4681728"/>
          </a:xfrm>
          <a:prstGeom prst="rect">
            <a:avLst/>
          </a:prstGeom>
          <a:solidFill>
            <a:srgbClr val="0A0F1C"/>
          </a:solidFill>
          <a:ln w="1905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bjectview-dd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73152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21040" y="21031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7CFF"/>
                </a:solidFill>
                <a:latin typeface="맑은 고딕"/>
                <a:ea typeface="맑은 고딕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210312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SQL Developer 스타일 탐색기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241401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계정 선택 · 유형 필터 · 텍스트 필터 · 오브젝트 유형별 트리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108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7CFF"/>
                </a:solidFill>
                <a:latin typeface="맑은 고딕"/>
                <a:ea typeface="맑은 고딕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310896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DDL 조회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341985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오브젝트 클릭 시 DBMS_METADATA.GET_DDL로 조회한 DDL을 우측에 표시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맑은 고딕"/>
                <a:ea typeface="맑은 고딕"/>
              </a:rPr>
              <a:t>SCREEN ·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맑은 고딕"/>
                <a:ea typeface="맑은 고딕"/>
              </a:rPr>
              <a:t>Obj View/SQL 탭 — SQL Query Runner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15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819655"/>
            <a:ext cx="7424928" cy="4681728"/>
          </a:xfrm>
          <a:prstGeom prst="rect">
            <a:avLst/>
          </a:prstGeom>
          <a:solidFill>
            <a:srgbClr val="0A0F1C"/>
          </a:solidFill>
          <a:ln w="1905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qlru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73152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21040" y="21031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7CFF"/>
                </a:solidFill>
                <a:latin typeface="맑은 고딕"/>
                <a:ea typeface="맑은 고딕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210312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읽기 전용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241401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단일 SELECT문만 실행 가능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108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7CFF"/>
                </a:solidFill>
                <a:latin typeface="맑은 고딕"/>
                <a:ea typeface="맑은 고딕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310896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결과 200행 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341985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대량 결과는 애초에 제한되어 안전하게 조회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114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7CFF"/>
                </a:solidFill>
                <a:latin typeface="맑은 고딕"/>
                <a:ea typeface="맑은 고딕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411480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CLOB 텍스트 표시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442569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CLOB은 문자열로 렌더링되며 BLOB은 지원 범위 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맑은 고딕"/>
                <a:ea typeface="맑은 고딕"/>
              </a:rPr>
              <a:t>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맑은 고딕"/>
                <a:ea typeface="맑은 고딕"/>
              </a:rPr>
              <a:t>Weekly DB Health Report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16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2590800" cy="2560320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noFill/>
          <a:ln w="2540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E6EBF5"/>
                </a:solidFill>
                <a:latin typeface="맑은 고딕"/>
                <a:ea typeface="맑은 고딕"/>
              </a:rPr>
              <a:t>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43200"/>
            <a:ext cx="213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BF5"/>
                </a:solidFill>
                <a:latin typeface="맑은 고딕"/>
                <a:ea typeface="맑은 고딕"/>
              </a:rPr>
              <a:t>독립 실행형 HTML 리포트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29000"/>
            <a:ext cx="2133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인라인 SVG 차트 포함, 외부 의존성 없이 트레일링 N일간의 DB 상태를 한 파일로 정리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3760" y="1828800"/>
            <a:ext cx="2590800" cy="2560320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2360" y="2103120"/>
            <a:ext cx="457200" cy="457200"/>
          </a:xfrm>
          <a:prstGeom prst="ellipse">
            <a:avLst/>
          </a:prstGeom>
          <a:noFill/>
          <a:ln w="254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42360" y="2103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E6EBF5"/>
                </a:solidFill>
                <a:latin typeface="맑은 고딕"/>
                <a:ea typeface="맑은 고딕"/>
              </a:rPr>
              <a:t>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360" y="2743200"/>
            <a:ext cx="213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BF5"/>
                </a:solidFill>
                <a:latin typeface="맑은 고딕"/>
                <a:ea typeface="맑은 고딕"/>
              </a:rPr>
              <a:t>15분 주기 백그라운드 수집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2360" y="3429000"/>
            <a:ext cx="2133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접속에 성공하는 즉시 시작되며, 브라우저를 계속 열어두지 않아도 계속 수집됨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7440" y="1828800"/>
            <a:ext cx="2590800" cy="2560320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16040" y="2103120"/>
            <a:ext cx="457200" cy="457200"/>
          </a:xfrm>
          <a:prstGeom prst="ellipse">
            <a:avLst/>
          </a:prstGeom>
          <a:noFill/>
          <a:ln w="2540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6040" y="2103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E6EBF5"/>
                </a:solidFill>
                <a:latin typeface="맑은 고딕"/>
                <a:ea typeface="맑은 고딕"/>
              </a:rPr>
              <a:t>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6040" y="2743200"/>
            <a:ext cx="213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BF5"/>
                </a:solidFill>
                <a:latin typeface="맑은 고딕"/>
                <a:ea typeface="맑은 고딕"/>
              </a:rPr>
              <a:t>암호화된 이력 파일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429000"/>
            <a:ext cx="2133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AES-256-GCM으로 암호화된 로컬 이력 — AWR 리포지토리를 대신하는 statspack 스타일의 작은 델타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1828800"/>
            <a:ext cx="2590800" cy="2560320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89720" y="2103120"/>
            <a:ext cx="457200" cy="457200"/>
          </a:xfrm>
          <a:prstGeom prst="ellipse">
            <a:avLst/>
          </a:prstGeom>
          <a:noFill/>
          <a:ln w="25400">
            <a:solidFill>
              <a:srgbClr val="E8B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2103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E6EBF5"/>
                </a:solidFill>
                <a:latin typeface="맑은 고딕"/>
                <a:ea typeface="맑은 고딕"/>
              </a:rPr>
              <a:t>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743200"/>
            <a:ext cx="213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BF5"/>
                </a:solidFill>
                <a:latin typeface="맑은 고딕"/>
                <a:ea typeface="맑은 고딕"/>
              </a:rPr>
              <a:t>report/&lt;YYYY-MM-DD&gt;/ 폴더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429000"/>
            <a:ext cx="2133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Report 버튼 클릭 한 번으로 완성된 HTML이 실행 파일 옆에 생성됨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맑은 고딕"/>
                <a:ea typeface="맑은 고딕"/>
              </a:rPr>
              <a:t>FAVORITES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맑은 고딕"/>
                <a:ea typeface="맑은 고딕"/>
              </a:rPr>
              <a:t>즐겨찾기 &amp; 데이터 보안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17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2590800" cy="2560320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noFill/>
          <a:ln w="25400">
            <a:solidFill>
              <a:srgbClr val="4FE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E6EBF5"/>
                </a:solidFill>
                <a:latin typeface="맑은 고딕"/>
                <a:ea typeface="맑은 고딕"/>
              </a:rPr>
              <a:t>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43200"/>
            <a:ext cx="213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BF5"/>
                </a:solidFill>
                <a:latin typeface="맑은 고딕"/>
                <a:ea typeface="맑은 고딕"/>
              </a:rPr>
              <a:t>AES-256-GCM 암호화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29000"/>
            <a:ext cx="2133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즐겨찾기(IP/Port/SID/계정/비밀번호)와 튜닝·리포트 스냅샷 이력을 로컬에 암호화 저장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3760" y="1828800"/>
            <a:ext cx="2590800" cy="2560320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2360" y="2103120"/>
            <a:ext cx="457200" cy="457200"/>
          </a:xfrm>
          <a:prstGeom prst="ellipse">
            <a:avLst/>
          </a:prstGeom>
          <a:noFill/>
          <a:ln w="2540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42360" y="2103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E6EBF5"/>
                </a:solidFill>
                <a:latin typeface="맑은 고딕"/>
                <a:ea typeface="맑은 고딕"/>
              </a:rPr>
              <a:t>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360" y="2743200"/>
            <a:ext cx="213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BF5"/>
                </a:solidFill>
                <a:latin typeface="맑은 고딕"/>
                <a:ea typeface="맑은 고딕"/>
              </a:rPr>
              <a:t>127.0.0.1 전용 바인딩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2360" y="3429000"/>
            <a:ext cx="2133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서버가 로컬 루프백에만 열려 이 PC 밖에서는 접근 경로 자체가 없음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7440" y="1828800"/>
            <a:ext cx="2590800" cy="2560320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16040" y="2103120"/>
            <a:ext cx="457200" cy="457200"/>
          </a:xfrm>
          <a:prstGeom prst="ellipse">
            <a:avLst/>
          </a:prstGeom>
          <a:noFill/>
          <a:ln w="25400">
            <a:solidFill>
              <a:srgbClr val="E8B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6040" y="2103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E6EBF5"/>
                </a:solidFill>
                <a:latin typeface="맑은 고딕"/>
                <a:ea typeface="맑은 고딕"/>
              </a:rPr>
              <a:t>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6040" y="2743200"/>
            <a:ext cx="213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BF5"/>
                </a:solidFill>
                <a:latin typeface="맑은 고딕"/>
                <a:ea typeface="맑은 고딕"/>
              </a:rPr>
              <a:t>원클릭 연결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429000"/>
            <a:ext cx="2133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접속 화면에서 저장된 즐겨찾기를 클릭만 하면 추가 입력 없이 바로 연결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1828800"/>
            <a:ext cx="2590800" cy="2560320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89720" y="2103120"/>
            <a:ext cx="457200" cy="457200"/>
          </a:xfrm>
          <a:prstGeom prst="ellipse">
            <a:avLst/>
          </a:prstGeom>
          <a:noFill/>
          <a:ln w="254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2103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E6EBF5"/>
                </a:solidFill>
                <a:latin typeface="맑은 고딕"/>
                <a:ea typeface="맑은 고딕"/>
              </a:rPr>
              <a:t>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743200"/>
            <a:ext cx="213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BF5"/>
                </a:solidFill>
                <a:latin typeface="맑은 고딕"/>
                <a:ea typeface="맑은 고딕"/>
              </a:rPr>
              <a:t>안전한 초기화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429000"/>
            <a:ext cx="2133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data/ 폴더를 삭제하면 모든 저장 데이터가 사라지고, 다음 실행 시 각 파일이 빈 상태로 재생성됨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맑은 고딕"/>
                <a:ea typeface="맑은 고딕"/>
              </a:rP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맑은 고딕"/>
                <a:ea typeface="맑은 고딕"/>
              </a:rPr>
              <a:t>DB 부하 최소화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18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2590800" cy="2560320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noFill/>
          <a:ln w="2540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E6EBF5"/>
                </a:solidFill>
                <a:latin typeface="맑은 고딕"/>
                <a:ea typeface="맑은 고딕"/>
              </a:rPr>
              <a:t>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43200"/>
            <a:ext cx="213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BF5"/>
                </a:solidFill>
                <a:latin typeface="맑은 고딕"/>
                <a:ea typeface="맑은 고딕"/>
              </a:rPr>
              <a:t>계층별 자동 갱신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29000"/>
            <a:ext cx="2133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세션/차단 세션 15초, CPU/메모리 30초, 인스턴스 정보 5분 주기로 독립 갱신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3760" y="1828800"/>
            <a:ext cx="2590800" cy="2560320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2360" y="2103120"/>
            <a:ext cx="457200" cy="457200"/>
          </a:xfrm>
          <a:prstGeom prst="ellipse">
            <a:avLst/>
          </a:prstGeom>
          <a:noFill/>
          <a:ln w="254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42360" y="2103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E6EBF5"/>
                </a:solidFill>
                <a:latin typeface="맑은 고딕"/>
                <a:ea typeface="맑은 고딕"/>
              </a:rPr>
              <a:t>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360" y="2743200"/>
            <a:ext cx="213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BF5"/>
                </a:solidFill>
                <a:latin typeface="맑은 고딕"/>
                <a:ea typeface="맑은 고딕"/>
              </a:rPr>
              <a:t>탭별 갱신 주기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2360" y="3429000"/>
            <a:ext cx="2133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Ops 탭은 활성일 때 5분, Tuning 탭은 활성일 때 10분마다 갱신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87440" y="1828800"/>
            <a:ext cx="2590800" cy="2560320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16040" y="2103120"/>
            <a:ext cx="457200" cy="457200"/>
          </a:xfrm>
          <a:prstGeom prst="ellipse">
            <a:avLst/>
          </a:prstGeom>
          <a:noFill/>
          <a:ln w="2540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6040" y="2103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E6EBF5"/>
                </a:solidFill>
                <a:latin typeface="맑은 고딕"/>
                <a:ea typeface="맑은 고딕"/>
              </a:rPr>
              <a:t>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6040" y="2743200"/>
            <a:ext cx="213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BF5"/>
                </a:solidFill>
                <a:latin typeface="맑은 고딕"/>
                <a:ea typeface="맑은 고딕"/>
              </a:rPr>
              <a:t>숨김/최소화 시 일시정지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3429000"/>
            <a:ext cx="2133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브라우저 탭이 숨겨지면 자동 갱신이 멈추고, 여러 탭/창이 열려 있어도 Web Locks API로 단 하나만 실제 조회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1828800"/>
            <a:ext cx="2590800" cy="2560320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89720" y="2103120"/>
            <a:ext cx="457200" cy="457200"/>
          </a:xfrm>
          <a:prstGeom prst="ellipse">
            <a:avLst/>
          </a:prstGeom>
          <a:noFill/>
          <a:ln w="25400">
            <a:solidFill>
              <a:srgbClr val="E8B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2103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E6EBF5"/>
                </a:solidFill>
                <a:latin typeface="맑은 고딕"/>
                <a:ea typeface="맑은 고딕"/>
              </a:rPr>
              <a:t>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743200"/>
            <a:ext cx="2133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BF5"/>
                </a:solidFill>
                <a:latin typeface="맑은 고딕"/>
                <a:ea typeface="맑은 고딕"/>
              </a:rPr>
              <a:t>서버 15초 응답 캐시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429000"/>
            <a:ext cx="21336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동일 대상에 대한 요청은 15초간 캐시되어, 수동 새로고침과 자동 갱신이 겹쳐도 Oracle은 한 번만 조회됨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맑은 고딕"/>
                <a:ea typeface="맑은 고딕"/>
              </a:rPr>
              <a:t>DESKTOP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맑은 고딕"/>
                <a:ea typeface="맑은 고딕"/>
              </a:rPr>
              <a:t>배포 방식 (Windows)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19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3515360" cy="2103120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noFill/>
          <a:ln w="2540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E6EBF5"/>
                </a:solidFill>
                <a:latin typeface="맑은 고딕"/>
                <a:ea typeface="맑은 고딕"/>
              </a:rPr>
              <a:t>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43200"/>
            <a:ext cx="305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BF5"/>
                </a:solidFill>
                <a:latin typeface="맑은 고딕"/>
                <a:ea typeface="맑은 고딕"/>
              </a:rPr>
              <a:t>단일 실행 파일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29000"/>
            <a:ext cx="3058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OraPulse_ver_x.xxxx.exe 하나만 복사하면 어디서든 실행 (PyInstaller --onefile)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8320" y="1828800"/>
            <a:ext cx="3515360" cy="2103120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66920" y="2103120"/>
            <a:ext cx="457200" cy="457200"/>
          </a:xfrm>
          <a:prstGeom prst="ellipse">
            <a:avLst/>
          </a:prstGeom>
          <a:noFill/>
          <a:ln w="254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6920" y="2103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E6EBF5"/>
                </a:solidFill>
                <a:latin typeface="맑은 고딕"/>
                <a:ea typeface="맑은 고딕"/>
              </a:rPr>
              <a:t>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6920" y="2743200"/>
            <a:ext cx="305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BF5"/>
                </a:solidFill>
                <a:latin typeface="맑은 고딕"/>
                <a:ea typeface="맑은 고딕"/>
              </a:rPr>
              <a:t>폴더형 배포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6920" y="3429000"/>
            <a:ext cx="3058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OraPulse_ver_x.xxxx\ (exe + lib + public) — 상용 프로그램과 같은 폴더 구조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6560" y="1828800"/>
            <a:ext cx="3515360" cy="2103120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65160" y="2103120"/>
            <a:ext cx="457200" cy="457200"/>
          </a:xfrm>
          <a:prstGeom prst="ellipse">
            <a:avLst/>
          </a:prstGeom>
          <a:noFill/>
          <a:ln w="25400">
            <a:solidFill>
              <a:srgbClr val="4FE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5160" y="210312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E6EBF5"/>
                </a:solidFill>
                <a:latin typeface="맑은 고딕"/>
                <a:ea typeface="맑은 고딕"/>
              </a:rPr>
              <a:t>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5160" y="2743200"/>
            <a:ext cx="305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6EBF5"/>
                </a:solidFill>
                <a:latin typeface="맑은 고딕"/>
                <a:ea typeface="맑은 고딕"/>
              </a:rPr>
              <a:t>정식 설치 프로그램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5160" y="3429000"/>
            <a:ext cx="3058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OraPulse-Setup_ver_x.xxxx.exe — Inno Setup 기반, 시작메뉴 등록과 언인스톨러 포함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297680"/>
            <a:ext cx="10911840" cy="1966056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480560"/>
            <a:ext cx="1036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E6EBF5"/>
                </a:solidFill>
                <a:latin typeface="맑은 고딕"/>
                <a:ea typeface="맑은 고딕"/>
              </a:rPr>
              <a:t>실행 경험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98348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E3A3"/>
                </a:solidFill>
                <a:latin typeface="맑은 고딕"/>
                <a:ea typeface="맑은 고딕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983480"/>
            <a:ext cx="30154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콘솔 창 없이 트레이 상주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5294376"/>
            <a:ext cx="3015488" cy="786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시스템 트레이 아이콘(Open/Exit)만으로 창을 다시 열거나 종료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0240" y="498348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E3A3"/>
                </a:solidFill>
                <a:latin typeface="맑은 고딕"/>
                <a:ea typeface="맑은 고딕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16272" y="4983480"/>
            <a:ext cx="30154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자동 포트 할당 &amp; 재실행 감지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16272" y="5294376"/>
            <a:ext cx="3015488" cy="786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실행마다 새 포트를 사용하며, 재실행 시 락 파일과 /api/version 검증을 통해 기존 인스턴스로 이동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6080" y="498348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E3A3"/>
                </a:solidFill>
                <a:latin typeface="맑은 고딕"/>
                <a:ea typeface="맑은 고딕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2112" y="4983480"/>
            <a:ext cx="30154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격리된 브라우저 프로필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2112" y="5294376"/>
            <a:ext cx="3015488" cy="786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전용 Chrome/Edge --app 프로필로 열려 비밀번호 저장 알림이 뜨지 않으며, 없으면 OS 기본 브라우저로 대체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맑은 고딕"/>
                <a:ea typeface="맑은 고딕"/>
              </a:rPr>
              <a:t>SCREEN ·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맑은 고딕"/>
                <a:ea typeface="맑은 고딕"/>
              </a:rPr>
              <a:t>다국어 · 테마 · 도움말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20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819655"/>
            <a:ext cx="7424928" cy="4681728"/>
          </a:xfrm>
          <a:prstGeom prst="rect">
            <a:avLst/>
          </a:prstGeom>
          <a:solidFill>
            <a:srgbClr val="0A0F1C"/>
          </a:solidFill>
          <a:ln w="19050">
            <a:solidFill>
              <a:srgbClr val="4F7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ashboard-kor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7315200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21040" y="210312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8B44F"/>
                </a:solidFill>
                <a:latin typeface="맑은 고딕"/>
                <a:ea typeface="맑은 고딕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7072" y="210312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한국어 / 영어 전환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7072" y="241401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선택값은 저장되며, 일부 라벨은 두 언어에서 의도적으로 동일하게 유지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10896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8B44F"/>
                </a:solidFill>
                <a:latin typeface="맑은 고딕"/>
                <a:ea typeface="맑은 고딕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7072" y="310896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다크 / 라이트 테마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7072" y="341985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순수 CSS 변수 전환 방식이라 다시 그릴 필요가 없음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1148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8B44F"/>
                </a:solidFill>
                <a:latin typeface="맑은 고딕"/>
                <a:ea typeface="맑은 고딕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7072" y="411480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내장 사용설명서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442569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실제 스크린샷이 포함된 이중언어 Help 탭 — 인터넷 연결 불필요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1206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8B44F"/>
                </a:solidFill>
                <a:latin typeface="맑은 고딕"/>
                <a:ea typeface="맑은 고딕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5120640"/>
            <a:ext cx="29748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설명서 내 검색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77072" y="5431536"/>
            <a:ext cx="29748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일치 항목을 강조 표시하고 Enter/화살표 버튼으로 이동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맑은 고딕"/>
                <a:ea typeface="맑은 고딕"/>
              </a:rP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맑은 고딕"/>
                <a:ea typeface="맑은 고딕"/>
              </a:rPr>
              <a:t>요구 사항 &amp; 알려진 제한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21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5212080" cy="4206240"/>
          </a:xfrm>
          <a:prstGeom prst="rect">
            <a:avLst/>
          </a:prstGeom>
          <a:solidFill>
            <a:srgbClr val="16213A"/>
          </a:solidFill>
          <a:ln w="12700">
            <a:solidFill>
              <a:srgbClr val="4FE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E6EBF5"/>
                </a:solidFill>
                <a:latin typeface="맑은 고딕"/>
                <a:ea typeface="맑은 고딕"/>
              </a:rPr>
              <a:t>요구 사항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E3A3"/>
                </a:solidFill>
                <a:latin typeface="맑은 고딕"/>
                <a:ea typeface="맑은 고딕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606040"/>
            <a:ext cx="4407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Oracle Database 12.1 이상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916936"/>
            <a:ext cx="4407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VERSION_FULL 표시는 12.2 이상 필요, 12.1은 해당 카드만 권한 오류 표시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4728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E3A3"/>
                </a:solidFill>
                <a:latin typeface="맑은 고딕"/>
                <a:ea typeface="맑은 고딕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447288"/>
            <a:ext cx="4407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네트워크 접근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3758184"/>
            <a:ext cx="4407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OraPulse 실행 위치에서 대상 Oracle Listener 호스트/포트로 연결 가능해야 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88536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E3A3"/>
                </a:solidFill>
                <a:latin typeface="맑은 고딕"/>
                <a:ea typeface="맑은 고딕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4288536"/>
            <a:ext cx="4407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Instant Client 불필요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4599432"/>
            <a:ext cx="4407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python-oracledb의 순수 Python thin mode만 사용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828800"/>
            <a:ext cx="5288280" cy="4206240"/>
          </a:xfrm>
          <a:prstGeom prst="rect">
            <a:avLst/>
          </a:prstGeom>
          <a:solidFill>
            <a:srgbClr val="16213A"/>
          </a:solidFill>
          <a:ln w="12700">
            <a:solidFill>
              <a:srgbClr val="E8B4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103120"/>
            <a:ext cx="4739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E6EBF5"/>
                </a:solidFill>
                <a:latin typeface="맑은 고딕"/>
                <a:ea typeface="맑은 고딕"/>
              </a:rPr>
              <a:t>알려진 제한 사항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60604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8B44F"/>
                </a:solidFill>
                <a:latin typeface="맑은 고딕"/>
                <a:ea typeface="맑은 고딕"/>
              </a:rPr>
              <a:t>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3992" y="2606040"/>
            <a:ext cx="44836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Oracle 11g 이하 미지원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3992" y="2916936"/>
            <a:ext cx="4483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thin-mode 드라이버 자체의 제약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44728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8B44F"/>
                </a:solidFill>
                <a:latin typeface="맑은 고딕"/>
                <a:ea typeface="맑은 고딕"/>
              </a:rPr>
              <a:t>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3992" y="3447288"/>
            <a:ext cx="44836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SQL Query Runner 제약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3992" y="3758184"/>
            <a:ext cx="4483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바인드 변수 입력 UI 없음, BLOB 컬럼은 표시되지 않음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288536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8B44F"/>
                </a:solidFill>
                <a:latin typeface="맑은 고딕"/>
                <a:ea typeface="맑은 고딕"/>
              </a:rPr>
              <a:t>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93992" y="4288536"/>
            <a:ext cx="44836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OS 레벨 호스트 지표 없음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93992" y="4599432"/>
            <a:ext cx="4483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디스크 여유공간 등은 제공하지 않음 — DB 연결로 얻을 수 있는 정보만 다루도록 설계됨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1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4F7CFF"/>
                </a:solidFill>
                <a:latin typeface="맑은 고딕"/>
                <a:ea typeface="맑은 고딕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0392"/>
            <a:ext cx="1091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6EBF5"/>
                </a:solidFill>
                <a:latin typeface="맑은 고딕"/>
                <a:ea typeface="맑은 고딕"/>
              </a:rPr>
              <a:t>기술 스택 &amp; 프로젝트 구조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54480"/>
            <a:ext cx="548640" cy="0"/>
          </a:xfrm>
          <a:prstGeom prst="line">
            <a:avLst/>
          </a:prstGeom>
          <a:ln w="38100">
            <a:solidFill>
              <a:srgbClr val="4F7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OraPulse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22 / 23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28800"/>
            <a:ext cx="5212080" cy="4206240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E6EBF5"/>
                </a:solidFill>
                <a:latin typeface="맑은 고딕"/>
                <a:ea typeface="맑은 고딕"/>
              </a:rPr>
              <a:t>백엔드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E3A3"/>
                </a:solidFill>
                <a:latin typeface="맑은 고딕"/>
                <a:ea typeface="맑은 고딕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2514600"/>
            <a:ext cx="4407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main.py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2825496"/>
            <a:ext cx="4407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앱 생성 · 라우트 등록 · 서버 기동을 담당하는 진입점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5584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E3A3"/>
                </a:solidFill>
                <a:latin typeface="맑은 고딕"/>
                <a:ea typeface="맑은 고딕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3355848"/>
            <a:ext cx="4407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backend/ 라우트 모듈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3666744"/>
            <a:ext cx="4407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core · connect · session · table_stats · object_view · sql_runner · tuning · jobs · account_security · alert_log · ops · recovery ·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97096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E3A3"/>
                </a:solidFill>
                <a:latin typeface="맑은 고딕"/>
                <a:ea typeface="맑은 고딕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4197096"/>
            <a:ext cx="4407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report.py / favorites.py / tuning.py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4507992"/>
            <a:ext cx="4407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스냅샷 수집, 암호화 저장, 규칙 기반 튜닝 로직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38344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E3A3"/>
                </a:solidFill>
                <a:latin typeface="맑은 고딕"/>
                <a:ea typeface="맑은 고딕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5038344"/>
            <a:ext cx="4407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python-oracledb Thin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5349240"/>
            <a:ext cx="4407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Instant Client 설치 없이 12.1 이상 전 버전을 커버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1828800"/>
            <a:ext cx="5288280" cy="4206240"/>
          </a:xfrm>
          <a:prstGeom prst="rect">
            <a:avLst/>
          </a:prstGeom>
          <a:solidFill>
            <a:srgbClr val="16213A"/>
          </a:solidFill>
          <a:ln w="12700">
            <a:solidFill>
              <a:srgbClr val="263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057400"/>
            <a:ext cx="4739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E6EBF5"/>
                </a:solidFill>
                <a:latin typeface="맑은 고딕"/>
                <a:ea typeface="맑은 고딕"/>
              </a:rPr>
              <a:t>프론트엔드 &amp; 배포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514600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E3A3"/>
                </a:solidFill>
                <a:latin typeface="맑은 고딕"/>
                <a:ea typeface="맑은 고딕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93992" y="2514600"/>
            <a:ext cx="44836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public/ (순수 HTML/CSS/JS)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3992" y="2825496"/>
            <a:ext cx="4483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i18n.js · cards.js · app-shell.js — 프레임워크 없이 직접 구현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335584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E3A3"/>
                </a:solidFill>
                <a:latin typeface="맑은 고딕"/>
                <a:ea typeface="맑은 고딕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93992" y="3355848"/>
            <a:ext cx="44836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browser.py / tray.py / paths.py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93992" y="3666744"/>
            <a:ext cx="4483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격리된 브라우저 프로필, 트레이 아이콘, 경로 헬퍼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197096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E3A3"/>
                </a:solidFill>
                <a:latin typeface="맑은 고딕"/>
                <a:ea typeface="맑은 고딕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93992" y="4197096"/>
            <a:ext cx="44836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PyInstaller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93992" y="4507992"/>
            <a:ext cx="4483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OraPulse.spec(단일 파일) / OraPulse-Folder.spec(폴더형) 빌드 스펙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5038344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4FE3A3"/>
                </a:solidFill>
                <a:latin typeface="맑은 고딕"/>
                <a:ea typeface="맑은 고딕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93992" y="5038344"/>
            <a:ext cx="44836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E6EBF5"/>
                </a:solidFill>
                <a:latin typeface="맑은 고딕"/>
                <a:ea typeface="맑은 고딕"/>
              </a:rPr>
              <a:t>build*.ps1 + installer.iss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93992" y="5349240"/>
            <a:ext cx="4483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8B96B3"/>
                </a:solidFill>
                <a:latin typeface="맑은 고딕"/>
                <a:ea typeface="맑은 고딕"/>
              </a:rPr>
              <a:t>VERSION 파일을 읽어 버전 태그가 자동 반영되는 빌드 · Inno Setup 인스톨러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4F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lide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60" y="201168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3520440"/>
            <a:ext cx="1219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E6EBF5"/>
                </a:solidFill>
                <a:latin typeface="맑은 고딕"/>
                <a:ea typeface="맑은 고딕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214240"/>
            <a:ext cx="1219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8B96B3"/>
                </a:solidFill>
                <a:latin typeface="맑은 고딕"/>
                <a:ea typeface="맑은 고딕"/>
              </a:rPr>
              <a:t>OraPulse — Oracle Database Monitoring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6473952"/>
            <a:ext cx="1219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8B96B3"/>
                </a:solidFill>
                <a:latin typeface="맑은 고딕"/>
                <a:ea typeface="맑은 고딕"/>
              </a:rPr>
              <a:t>v1.0049 · 2026.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